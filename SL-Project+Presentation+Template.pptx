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y="5143500" cx="9144000"/>
  <p:notesSz cx="6858000" cy="9144000"/>
  <p:embeddedFontLst>
    <p:embeddedFont>
      <p:font typeface="Nunito SemiBold"/>
      <p:regular r:id="rId47"/>
      <p:bold r:id="rId48"/>
      <p:italic r:id="rId49"/>
      <p:boldItalic r:id="rId50"/>
    </p:embeddedFont>
    <p:embeddedFont>
      <p:font typeface="Nunito"/>
      <p:regular r:id="rId51"/>
      <p:bold r:id="rId52"/>
      <p:italic r:id="rId53"/>
      <p:boldItalic r:id="rId54"/>
    </p:embeddedFont>
    <p:embeddedFont>
      <p:font typeface="Nunito ExtraBold"/>
      <p:bold r:id="rId55"/>
      <p:boldItalic r:id="rId56"/>
    </p:embeddedFont>
    <p:embeddedFont>
      <p:font typeface="Century Gothic"/>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16">
          <p15:clr>
            <a:srgbClr val="A4A3A4"/>
          </p15:clr>
        </p15:guide>
        <p15:guide id="2" pos="2952">
          <p15:clr>
            <a:srgbClr val="A4A3A4"/>
          </p15:clr>
        </p15:guide>
      </p15:sldGuideLst>
    </p:ext>
    <p:ext uri="GoogleSlidesCustomDataVersion2">
      <go:slidesCustomData xmlns:go="http://customooxmlschemas.google.com/" r:id="rId61" roundtripDataSignature="AMtx7mjyGjc9XPle8orAzAS9MjJ5t0Qk0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54716C-8D3B-42A0-B801-0DC5BC4BABD5}">
  <a:tblStyle styleId="{5E54716C-8D3B-42A0-B801-0DC5BC4BABD5}" styleName="Table_0">
    <a:wholeTbl>
      <a:tcTxStyle b="off" i="off">
        <a:font>
          <a:latin typeface="Arial"/>
          <a:ea typeface="Arial"/>
          <a:cs typeface="Arial"/>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rgbClr val="5B9BD5"/>
              </a:solidFill>
              <a:prstDash val="solid"/>
              <a:round/>
              <a:headEnd len="sm" w="sm" type="none"/>
              <a:tailEnd len="sm" w="sm" type="none"/>
            </a:ln>
          </a:top>
          <a:bottom>
            <a:ln cap="flat" cmpd="sng" w="12700">
              <a:solidFill>
                <a:srgbClr val="5B9BD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rgbClr val="5B9BD5">
              <a:alpha val="20000"/>
            </a:srgbClr>
          </a:solidFill>
        </a:fill>
      </a:tcStyle>
    </a:band1H>
    <a:band2H>
      <a:tcTxStyle b="off" i="off"/>
    </a:band2H>
    <a:band1V>
      <a:tcTxStyle b="off" i="off"/>
      <a:tcStyle>
        <a:fill>
          <a:solidFill>
            <a:srgbClr val="5B9BD5">
              <a:alpha val="20000"/>
            </a:srgbClr>
          </a:solidFill>
        </a:fill>
      </a:tcStyle>
    </a:band1V>
    <a:band2V>
      <a:tcTxStyle b="off" i="off"/>
    </a:band2V>
    <a:lastCol>
      <a:tcTxStyle b="on" i="off"/>
    </a:lastCol>
    <a:firstCol>
      <a:tcTxStyle b="on" i="off"/>
    </a:firstCol>
    <a:lastRow>
      <a:tcTxStyle b="on" i="off"/>
      <a:tcStyle>
        <a:tcBdr>
          <a:top>
            <a:ln cap="flat" cmpd="sng" w="12700">
              <a:solidFill>
                <a:srgbClr val="5B9BD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rgbClr val="5B9BD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 styleId="{F8C0DDD7-219C-40B8-9E4E-FD4CF13916F9}"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16" orient="horz"/>
        <p:guide pos="295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NunitoSemiBold-bold.fntdata"/><Relationship Id="rId47" Type="http://schemas.openxmlformats.org/officeDocument/2006/relationships/font" Target="fonts/NunitoSemiBold-regular.fntdata"/><Relationship Id="rId49" Type="http://schemas.openxmlformats.org/officeDocument/2006/relationships/font" Target="fonts/NunitoSemi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1" Type="http://customschemas.google.com/relationships/presentationmetadata" Target="meta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CenturyGothic-bold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Nunito-regular.fntdata"/><Relationship Id="rId50" Type="http://schemas.openxmlformats.org/officeDocument/2006/relationships/font" Target="fonts/NunitoSemiBold-boldItalic.fntdata"/><Relationship Id="rId53" Type="http://schemas.openxmlformats.org/officeDocument/2006/relationships/font" Target="fonts/Nunito-italic.fntdata"/><Relationship Id="rId52" Type="http://schemas.openxmlformats.org/officeDocument/2006/relationships/font" Target="fonts/Nunito-bold.fntdata"/><Relationship Id="rId11" Type="http://schemas.openxmlformats.org/officeDocument/2006/relationships/slide" Target="slides/slide4.xml"/><Relationship Id="rId55" Type="http://schemas.openxmlformats.org/officeDocument/2006/relationships/font" Target="fonts/NunitoExtraBold-bold.fntdata"/><Relationship Id="rId10" Type="http://schemas.openxmlformats.org/officeDocument/2006/relationships/slide" Target="slides/slide3.xml"/><Relationship Id="rId54" Type="http://schemas.openxmlformats.org/officeDocument/2006/relationships/font" Target="fonts/Nunito-boldItalic.fntdata"/><Relationship Id="rId13" Type="http://schemas.openxmlformats.org/officeDocument/2006/relationships/slide" Target="slides/slide6.xml"/><Relationship Id="rId57" Type="http://schemas.openxmlformats.org/officeDocument/2006/relationships/font" Target="fonts/CenturyGothic-regular.fntdata"/><Relationship Id="rId12" Type="http://schemas.openxmlformats.org/officeDocument/2006/relationships/slide" Target="slides/slide5.xml"/><Relationship Id="rId56" Type="http://schemas.openxmlformats.org/officeDocument/2006/relationships/font" Target="fonts/NunitoExtraBold-boldItalic.fntdata"/><Relationship Id="rId15" Type="http://schemas.openxmlformats.org/officeDocument/2006/relationships/slide" Target="slides/slide8.xml"/><Relationship Id="rId59" Type="http://schemas.openxmlformats.org/officeDocument/2006/relationships/font" Target="fonts/CenturyGothic-italic.fntdata"/><Relationship Id="rId14" Type="http://schemas.openxmlformats.org/officeDocument/2006/relationships/slide" Target="slides/slide7.xml"/><Relationship Id="rId58" Type="http://schemas.openxmlformats.org/officeDocument/2006/relationships/font" Target="fonts/CenturyGothic-bold.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7fe7260e3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27fe7260e35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7febcf710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27febcf7106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7febcf710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27febcf7106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7febcf710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27febcf7106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7febcf710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27febcf7106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7febcf710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27febcf7106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204372279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2204372279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204372279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22043722798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204372279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22043722798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204372279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22043722798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204372279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22043722798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204372279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g22043722798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2043722798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g22043722798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8134c4af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g28134c4af0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204372279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g22043722798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2043722798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g22043722798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2043722798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g22043722798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204372279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g22043722798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f308c1a2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g2f308c1a28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f308c1a28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g2f308c1a282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f308c1a28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g2f308c1a282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f308c1a28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2f308c1a282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8134c4af0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g28134c4af0e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8134c4af0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28134c4af0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8134c4af0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8134c4af0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8134c4af0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8134c4af0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8134c4af0e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8134c4af0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8134c4af0e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8134c4af0e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6" name="Google Shape;42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2" name="Google Shape;43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
        <p:nvSpPr>
          <p:cNvPr id="434" name="Google Shape;434;p13: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Proprietary content. ©Great Learning. All Rights Reserved. Unauthorized use or distribution prohibited</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15"/>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6" name="Google Shape;16;p15"/>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17" name="Google Shape;17;p1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8"/>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20" name="Google Shape;20;p18"/>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23" name="Google Shape;23;p19"/>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24" name="Shape 24"/>
        <p:cNvGrpSpPr/>
        <p:nvPr/>
      </p:nvGrpSpPr>
      <p:grpSpPr>
        <a:xfrm>
          <a:off x="0" y="0"/>
          <a:ext cx="0" cy="0"/>
          <a:chOff x="0" y="0"/>
          <a:chExt cx="0" cy="0"/>
        </a:xfrm>
      </p:grpSpPr>
      <p:sp>
        <p:nvSpPr>
          <p:cNvPr id="25" name="Google Shape;25;p20"/>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26" name="Google Shape;26;p20"/>
          <p:cNvGraphicFramePr/>
          <p:nvPr/>
        </p:nvGraphicFramePr>
        <p:xfrm>
          <a:off x="201942" y="833662"/>
          <a:ext cx="3000000" cy="3000000"/>
        </p:xfrm>
        <a:graphic>
          <a:graphicData uri="http://schemas.openxmlformats.org/drawingml/2006/table">
            <a:tbl>
              <a:tblPr bandRow="1" firstRow="1">
                <a:noFill/>
                <a:tableStyleId>{5E54716C-8D3B-42A0-B801-0DC5BC4BABD5}</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27" name="Google Shape;27;p2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21"/>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0" name="Google Shape;30;p2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2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2" name="Google Shape;32;p2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22"/>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5" name="Google Shape;35;p2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2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44" name="Google Shape;44;p2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2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47" name="Shape 47"/>
        <p:cNvGrpSpPr/>
        <p:nvPr/>
      </p:nvGrpSpPr>
      <p:grpSpPr>
        <a:xfrm>
          <a:off x="0" y="0"/>
          <a:ext cx="0" cy="0"/>
          <a:chOff x="0" y="0"/>
          <a:chExt cx="0" cy="0"/>
        </a:xfrm>
      </p:grpSpPr>
      <p:sp>
        <p:nvSpPr>
          <p:cNvPr id="48" name="Google Shape;48;p26"/>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49" name="Google Shape;49;p26"/>
          <p:cNvPicPr preferRelativeResize="0"/>
          <p:nvPr/>
        </p:nvPicPr>
        <p:blipFill rotWithShape="1">
          <a:blip r:embed="rId2">
            <a:alphaModFix/>
          </a:blip>
          <a:srcRect b="19151" l="42816" r="37296" t="18358"/>
          <a:stretch/>
        </p:blipFill>
        <p:spPr>
          <a:xfrm>
            <a:off x="6052536" y="514443"/>
            <a:ext cx="2095112" cy="3703320"/>
          </a:xfrm>
          <a:prstGeom prst="rect">
            <a:avLst/>
          </a:prstGeom>
          <a:noFill/>
          <a:ln>
            <a:noFill/>
          </a:ln>
        </p:spPr>
      </p:pic>
      <p:sp>
        <p:nvSpPr>
          <p:cNvPr id="50" name="Google Shape;50;p26"/>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51" name="Google Shape;51;p26"/>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52" name="Google Shape;52;p26"/>
          <p:cNvPicPr preferRelativeResize="0"/>
          <p:nvPr/>
        </p:nvPicPr>
        <p:blipFill rotWithShape="1">
          <a:blip r:embed="rId3">
            <a:alphaModFix/>
          </a:blip>
          <a:srcRect b="0" l="0" r="0" t="0"/>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3" name="Shape 53"/>
        <p:cNvGrpSpPr/>
        <p:nvPr/>
      </p:nvGrpSpPr>
      <p:grpSpPr>
        <a:xfrm>
          <a:off x="0" y="0"/>
          <a:ext cx="0" cy="0"/>
          <a:chOff x="0" y="0"/>
          <a:chExt cx="0" cy="0"/>
        </a:xfrm>
      </p:grpSpPr>
      <p:sp>
        <p:nvSpPr>
          <p:cNvPr id="54" name="Google Shape;54;p27"/>
          <p:cNvSpPr txBox="1"/>
          <p:nvPr>
            <p:ph type="title"/>
          </p:nvPr>
        </p:nvSpPr>
        <p:spPr>
          <a:xfrm>
            <a:off x="0" y="0"/>
            <a:ext cx="3000000" cy="225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chemeClr val="dk1"/>
              </a:buClr>
              <a:buSzPts val="3000"/>
              <a:buFont typeface="Arial"/>
              <a:buNone/>
              <a:defRPr b="1" i="0" sz="3000" u="none" cap="none" strike="noStrike">
                <a:solidFill>
                  <a:schemeClr val="dk1"/>
                </a:solidFill>
                <a:latin typeface="Arial"/>
                <a:ea typeface="Arial"/>
                <a:cs typeface="Arial"/>
                <a:sym typeface="Arial"/>
              </a:defRPr>
            </a:lvl1pPr>
            <a:lvl2pPr lvl="1" algn="l">
              <a:lnSpc>
                <a:spcPct val="100000"/>
              </a:lnSpc>
              <a:spcBef>
                <a:spcPts val="0"/>
              </a:spcBef>
              <a:spcAft>
                <a:spcPts val="0"/>
              </a:spcAft>
              <a:buSzPts val="2500"/>
              <a:buNone/>
              <a:defRPr sz="1800"/>
            </a:lvl2pPr>
            <a:lvl3pPr lvl="2" algn="l">
              <a:lnSpc>
                <a:spcPct val="100000"/>
              </a:lnSpc>
              <a:spcBef>
                <a:spcPts val="0"/>
              </a:spcBef>
              <a:spcAft>
                <a:spcPts val="0"/>
              </a:spcAft>
              <a:buSzPts val="2500"/>
              <a:buNone/>
              <a:defRPr sz="1800"/>
            </a:lvl3pPr>
            <a:lvl4pPr lvl="3" algn="l">
              <a:lnSpc>
                <a:spcPct val="100000"/>
              </a:lnSpc>
              <a:spcBef>
                <a:spcPts val="0"/>
              </a:spcBef>
              <a:spcAft>
                <a:spcPts val="0"/>
              </a:spcAft>
              <a:buSzPts val="2500"/>
              <a:buNone/>
              <a:defRPr sz="1800"/>
            </a:lvl4pPr>
            <a:lvl5pPr lvl="4" algn="l">
              <a:lnSpc>
                <a:spcPct val="100000"/>
              </a:lnSpc>
              <a:spcBef>
                <a:spcPts val="0"/>
              </a:spcBef>
              <a:spcAft>
                <a:spcPts val="0"/>
              </a:spcAft>
              <a:buSzPts val="2500"/>
              <a:buNone/>
              <a:defRPr sz="1800"/>
            </a:lvl5pPr>
            <a:lvl6pPr lvl="5" algn="l">
              <a:lnSpc>
                <a:spcPct val="100000"/>
              </a:lnSpc>
              <a:spcBef>
                <a:spcPts val="0"/>
              </a:spcBef>
              <a:spcAft>
                <a:spcPts val="0"/>
              </a:spcAft>
              <a:buSzPts val="2500"/>
              <a:buNone/>
              <a:defRPr sz="1800"/>
            </a:lvl6pPr>
            <a:lvl7pPr lvl="6" algn="l">
              <a:lnSpc>
                <a:spcPct val="100000"/>
              </a:lnSpc>
              <a:spcBef>
                <a:spcPts val="0"/>
              </a:spcBef>
              <a:spcAft>
                <a:spcPts val="0"/>
              </a:spcAft>
              <a:buSzPts val="2500"/>
              <a:buNone/>
              <a:defRPr sz="1800"/>
            </a:lvl7pPr>
            <a:lvl8pPr lvl="7" algn="l">
              <a:lnSpc>
                <a:spcPct val="100000"/>
              </a:lnSpc>
              <a:spcBef>
                <a:spcPts val="0"/>
              </a:spcBef>
              <a:spcAft>
                <a:spcPts val="0"/>
              </a:spcAft>
              <a:buSzPts val="2500"/>
              <a:buNone/>
              <a:defRPr sz="1800"/>
            </a:lvl8pPr>
            <a:lvl9pPr lvl="8" algn="l">
              <a:lnSpc>
                <a:spcPct val="100000"/>
              </a:lnSpc>
              <a:spcBef>
                <a:spcPts val="0"/>
              </a:spcBef>
              <a:spcAft>
                <a:spcPts val="0"/>
              </a:spcAft>
              <a:buSzPts val="2500"/>
              <a:buNone/>
              <a:defRPr sz="1800"/>
            </a:lvl9pPr>
          </a:lstStyle>
          <a:p/>
        </p:txBody>
      </p:sp>
      <p:sp>
        <p:nvSpPr>
          <p:cNvPr id="55" name="Google Shape;55;p27"/>
          <p:cNvSpPr txBox="1"/>
          <p:nvPr>
            <p:ph idx="1" type="body"/>
          </p:nvPr>
        </p:nvSpPr>
        <p:spPr>
          <a:xfrm>
            <a:off x="457200" y="1021842"/>
            <a:ext cx="8229600" cy="3394500"/>
          </a:xfrm>
          <a:prstGeom prst="rect">
            <a:avLst/>
          </a:prstGeom>
          <a:noFill/>
          <a:ln>
            <a:noFill/>
          </a:ln>
        </p:spPr>
        <p:txBody>
          <a:bodyPr anchorCtr="0" anchor="t" bIns="45700" lIns="91425" spcFirstLastPara="1" rIns="91425" wrap="square" tIns="45700">
            <a:normAutofit/>
          </a:bodyPr>
          <a:lstStyle>
            <a:lvl1pPr indent="-342900" lvl="0" marL="457200" algn="l">
              <a:lnSpc>
                <a:spcPct val="115000"/>
              </a:lnSpc>
              <a:spcBef>
                <a:spcPts val="360"/>
              </a:spcBef>
              <a:spcAft>
                <a:spcPts val="0"/>
              </a:spcAft>
              <a:buClr>
                <a:schemeClr val="dk1"/>
              </a:buClr>
              <a:buSzPts val="1800"/>
              <a:buChar char="●"/>
              <a:defRPr/>
            </a:lvl1pPr>
            <a:lvl2pPr indent="-342900" lvl="1" marL="914400" algn="l">
              <a:lnSpc>
                <a:spcPct val="115000"/>
              </a:lnSpc>
              <a:spcBef>
                <a:spcPts val="1600"/>
              </a:spcBef>
              <a:spcAft>
                <a:spcPts val="0"/>
              </a:spcAft>
              <a:buClr>
                <a:schemeClr val="dk1"/>
              </a:buClr>
              <a:buSzPts val="1800"/>
              <a:buChar char="○"/>
              <a:defRPr/>
            </a:lvl2pPr>
            <a:lvl3pPr indent="-342900" lvl="2" marL="1371600" algn="l">
              <a:lnSpc>
                <a:spcPct val="115000"/>
              </a:lnSpc>
              <a:spcBef>
                <a:spcPts val="1600"/>
              </a:spcBef>
              <a:spcAft>
                <a:spcPts val="0"/>
              </a:spcAft>
              <a:buClr>
                <a:schemeClr val="dk1"/>
              </a:buClr>
              <a:buSzPts val="1800"/>
              <a:buChar char="■"/>
              <a:defRPr/>
            </a:lvl3pPr>
            <a:lvl4pPr indent="-342900" lvl="3" marL="1828800" algn="l">
              <a:lnSpc>
                <a:spcPct val="115000"/>
              </a:lnSpc>
              <a:spcBef>
                <a:spcPts val="1600"/>
              </a:spcBef>
              <a:spcAft>
                <a:spcPts val="0"/>
              </a:spcAft>
              <a:buClr>
                <a:schemeClr val="dk1"/>
              </a:buClr>
              <a:buSzPts val="1800"/>
              <a:buChar char="●"/>
              <a:defRPr/>
            </a:lvl4pPr>
            <a:lvl5pPr indent="-342900" lvl="4" marL="2286000" algn="l">
              <a:lnSpc>
                <a:spcPct val="115000"/>
              </a:lnSpc>
              <a:spcBef>
                <a:spcPts val="1600"/>
              </a:spcBef>
              <a:spcAft>
                <a:spcPts val="0"/>
              </a:spcAft>
              <a:buClr>
                <a:schemeClr val="dk1"/>
              </a:buClr>
              <a:buSzPts val="1800"/>
              <a:buChar char="○"/>
              <a:defRPr/>
            </a:lvl5pPr>
            <a:lvl6pPr indent="-342900" lvl="5" marL="2743200" algn="l">
              <a:lnSpc>
                <a:spcPct val="115000"/>
              </a:lnSpc>
              <a:spcBef>
                <a:spcPts val="1600"/>
              </a:spcBef>
              <a:spcAft>
                <a:spcPts val="0"/>
              </a:spcAft>
              <a:buClr>
                <a:schemeClr val="dk1"/>
              </a:buClr>
              <a:buSzPts val="1800"/>
              <a:buChar char="■"/>
              <a:defRPr/>
            </a:lvl6pPr>
            <a:lvl7pPr indent="-342900" lvl="6" marL="3200400" algn="l">
              <a:lnSpc>
                <a:spcPct val="115000"/>
              </a:lnSpc>
              <a:spcBef>
                <a:spcPts val="1600"/>
              </a:spcBef>
              <a:spcAft>
                <a:spcPts val="0"/>
              </a:spcAft>
              <a:buClr>
                <a:schemeClr val="dk1"/>
              </a:buClr>
              <a:buSzPts val="1800"/>
              <a:buChar char="●"/>
              <a:defRPr/>
            </a:lvl7pPr>
            <a:lvl8pPr indent="-342900" lvl="7" marL="3657600" algn="l">
              <a:lnSpc>
                <a:spcPct val="115000"/>
              </a:lnSpc>
              <a:spcBef>
                <a:spcPts val="1600"/>
              </a:spcBef>
              <a:spcAft>
                <a:spcPts val="0"/>
              </a:spcAft>
              <a:buClr>
                <a:schemeClr val="dk1"/>
              </a:buClr>
              <a:buSzPts val="1800"/>
              <a:buChar char="○"/>
              <a:defRPr/>
            </a:lvl8pPr>
            <a:lvl9pPr indent="-342900" lvl="8" marL="4114800" algn="l">
              <a:lnSpc>
                <a:spcPct val="115000"/>
              </a:lnSpc>
              <a:spcBef>
                <a:spcPts val="1600"/>
              </a:spcBef>
              <a:spcAft>
                <a:spcPts val="1600"/>
              </a:spcAft>
              <a:buClr>
                <a:schemeClr val="dk1"/>
              </a:buClr>
              <a:buSzPts val="1800"/>
              <a:buChar char="■"/>
              <a:defRPr/>
            </a:lvl9pPr>
          </a:lstStyle>
          <a:p/>
        </p:txBody>
      </p:sp>
      <p:sp>
        <p:nvSpPr>
          <p:cNvPr id="56" name="Google Shape;56;p27"/>
          <p:cNvSpPr txBox="1"/>
          <p:nvPr>
            <p:ph idx="10" type="dt"/>
          </p:nvPr>
        </p:nvSpPr>
        <p:spPr>
          <a:xfrm>
            <a:off x="0" y="0"/>
            <a:ext cx="3000000" cy="225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7" name="Google Shape;57;p27"/>
          <p:cNvSpPr txBox="1"/>
          <p:nvPr>
            <p:ph idx="11" type="ftr"/>
          </p:nvPr>
        </p:nvSpPr>
        <p:spPr>
          <a:xfrm>
            <a:off x="0" y="0"/>
            <a:ext cx="3000000" cy="225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8" name="Google Shape;58;p27"/>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9" name="Shape 59"/>
        <p:cNvGrpSpPr/>
        <p:nvPr/>
      </p:nvGrpSpPr>
      <p:grpSpPr>
        <a:xfrm>
          <a:off x="0" y="0"/>
          <a:ext cx="0" cy="0"/>
          <a:chOff x="0" y="0"/>
          <a:chExt cx="0" cy="0"/>
        </a:xfrm>
      </p:grpSpPr>
      <p:sp>
        <p:nvSpPr>
          <p:cNvPr id="60" name="Google Shape;60;p28"/>
          <p:cNvSpPr txBox="1"/>
          <p:nvPr>
            <p:ph idx="10" type="dt"/>
          </p:nvPr>
        </p:nvSpPr>
        <p:spPr>
          <a:xfrm>
            <a:off x="457200" y="4857749"/>
            <a:ext cx="2133600" cy="205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1" name="Google Shape;61;p28"/>
          <p:cNvSpPr txBox="1"/>
          <p:nvPr>
            <p:ph idx="11" type="ftr"/>
          </p:nvPr>
        </p:nvSpPr>
        <p:spPr>
          <a:xfrm>
            <a:off x="2640596" y="4857749"/>
            <a:ext cx="5507700" cy="205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2" name="Google Shape;62;p28"/>
          <p:cNvSpPr txBox="1"/>
          <p:nvPr>
            <p:ph idx="12" type="sldNum"/>
          </p:nvPr>
        </p:nvSpPr>
        <p:spPr>
          <a:xfrm>
            <a:off x="8204396" y="4857749"/>
            <a:ext cx="733800" cy="2058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transition spd="med">
    <p:fade thruBlk="1"/>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63" name="Shape 63"/>
        <p:cNvGrpSpPr/>
        <p:nvPr/>
      </p:nvGrpSpPr>
      <p:grpSpPr>
        <a:xfrm>
          <a:off x="0" y="0"/>
          <a:ext cx="0" cy="0"/>
          <a:chOff x="0" y="0"/>
          <a:chExt cx="0" cy="0"/>
        </a:xfrm>
      </p:grpSpPr>
      <p:sp>
        <p:nvSpPr>
          <p:cNvPr id="64" name="Google Shape;64;p29"/>
          <p:cNvSpPr txBox="1"/>
          <p:nvPr>
            <p:ph type="title"/>
          </p:nvPr>
        </p:nvSpPr>
        <p:spPr>
          <a:xfrm>
            <a:off x="569519" y="142741"/>
            <a:ext cx="8004900" cy="9348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0" i="0" sz="300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65" name="Google Shape;65;p29"/>
          <p:cNvSpPr txBox="1"/>
          <p:nvPr>
            <p:ph idx="1" type="body"/>
          </p:nvPr>
        </p:nvSpPr>
        <p:spPr>
          <a:xfrm>
            <a:off x="1412081" y="930269"/>
            <a:ext cx="6319800" cy="23631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500"/>
              <a:buNone/>
              <a:defRPr b="0" i="0" sz="1900">
                <a:solidFill>
                  <a:schemeClr val="dk1"/>
                </a:solidFill>
                <a:latin typeface="Calibri"/>
                <a:ea typeface="Calibri"/>
                <a:cs typeface="Calibri"/>
                <a:sym typeface="Calibri"/>
              </a:defRPr>
            </a:lvl1pPr>
            <a:lvl2pPr indent="-228600" lvl="1" marL="914400" algn="l">
              <a:lnSpc>
                <a:spcPct val="115000"/>
              </a:lnSpc>
              <a:spcBef>
                <a:spcPts val="1600"/>
              </a:spcBef>
              <a:spcAft>
                <a:spcPts val="0"/>
              </a:spcAft>
              <a:buSzPts val="1300"/>
              <a:buNone/>
              <a:defRPr/>
            </a:lvl2pPr>
            <a:lvl3pPr indent="-228600" lvl="2" marL="1371600" algn="l">
              <a:lnSpc>
                <a:spcPct val="115000"/>
              </a:lnSpc>
              <a:spcBef>
                <a:spcPts val="1600"/>
              </a:spcBef>
              <a:spcAft>
                <a:spcPts val="0"/>
              </a:spcAft>
              <a:buSzPts val="1200"/>
              <a:buNone/>
              <a:defRPr/>
            </a:lvl3pPr>
            <a:lvl4pPr indent="-228600" lvl="3" marL="1828800" algn="l">
              <a:lnSpc>
                <a:spcPct val="115000"/>
              </a:lnSpc>
              <a:spcBef>
                <a:spcPts val="1600"/>
              </a:spcBef>
              <a:spcAft>
                <a:spcPts val="0"/>
              </a:spcAft>
              <a:buSzPts val="1100"/>
              <a:buNone/>
              <a:defRPr/>
            </a:lvl4pPr>
            <a:lvl5pPr indent="-228600" lvl="4" marL="2286000" algn="l">
              <a:lnSpc>
                <a:spcPct val="115000"/>
              </a:lnSpc>
              <a:spcBef>
                <a:spcPts val="1600"/>
              </a:spcBef>
              <a:spcAft>
                <a:spcPts val="0"/>
              </a:spcAft>
              <a:buSzPts val="1000"/>
              <a:buNone/>
              <a:defRPr/>
            </a:lvl5pPr>
            <a:lvl6pPr indent="-228600" lvl="5" marL="2743200" algn="l">
              <a:lnSpc>
                <a:spcPct val="115000"/>
              </a:lnSpc>
              <a:spcBef>
                <a:spcPts val="1600"/>
              </a:spcBef>
              <a:spcAft>
                <a:spcPts val="0"/>
              </a:spcAft>
              <a:buSzPts val="900"/>
              <a:buNone/>
              <a:defRPr/>
            </a:lvl6pPr>
            <a:lvl7pPr indent="-228600" lvl="6" marL="3200400" algn="l">
              <a:lnSpc>
                <a:spcPct val="115000"/>
              </a:lnSpc>
              <a:spcBef>
                <a:spcPts val="1600"/>
              </a:spcBef>
              <a:spcAft>
                <a:spcPts val="0"/>
              </a:spcAft>
              <a:buSzPts val="800"/>
              <a:buNone/>
              <a:defRPr/>
            </a:lvl7pPr>
            <a:lvl8pPr indent="-228600" lvl="7" marL="3657600" algn="l">
              <a:lnSpc>
                <a:spcPct val="115000"/>
              </a:lnSpc>
              <a:spcBef>
                <a:spcPts val="1600"/>
              </a:spcBef>
              <a:spcAft>
                <a:spcPts val="0"/>
              </a:spcAft>
              <a:buSzPts val="700"/>
              <a:buNone/>
              <a:defRPr/>
            </a:lvl8pPr>
            <a:lvl9pPr indent="-228600" lvl="8" marL="4114800" algn="l">
              <a:lnSpc>
                <a:spcPct val="115000"/>
              </a:lnSpc>
              <a:spcBef>
                <a:spcPts val="1600"/>
              </a:spcBef>
              <a:spcAft>
                <a:spcPts val="1600"/>
              </a:spcAft>
              <a:buSzPts val="600"/>
              <a:buNone/>
              <a:defRPr/>
            </a:lvl9pPr>
          </a:lstStyle>
          <a:p/>
        </p:txBody>
      </p:sp>
      <p:sp>
        <p:nvSpPr>
          <p:cNvPr id="66" name="Google Shape;66;p29"/>
          <p:cNvSpPr txBox="1"/>
          <p:nvPr>
            <p:ph idx="11" type="ftr"/>
          </p:nvPr>
        </p:nvSpPr>
        <p:spPr>
          <a:xfrm>
            <a:off x="1574006" y="4988871"/>
            <a:ext cx="5565000" cy="1518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7E7E7E"/>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7" name="Google Shape;67;p29"/>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 name="Google Shape;68;p29"/>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_1">
    <p:spTree>
      <p:nvGrpSpPr>
        <p:cNvPr id="69" name="Shape 69"/>
        <p:cNvGrpSpPr/>
        <p:nvPr/>
      </p:nvGrpSpPr>
      <p:grpSpPr>
        <a:xfrm>
          <a:off x="0" y="0"/>
          <a:ext cx="0" cy="0"/>
          <a:chOff x="0" y="0"/>
          <a:chExt cx="0" cy="0"/>
        </a:xfrm>
      </p:grpSpPr>
      <p:sp>
        <p:nvSpPr>
          <p:cNvPr id="70" name="Google Shape;70;p30"/>
          <p:cNvSpPr txBox="1"/>
          <p:nvPr>
            <p:ph type="title"/>
          </p:nvPr>
        </p:nvSpPr>
        <p:spPr>
          <a:xfrm>
            <a:off x="3932967" y="348900"/>
            <a:ext cx="1278000" cy="521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0" i="0" sz="330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71" name="Google Shape;71;p30"/>
          <p:cNvSpPr txBox="1"/>
          <p:nvPr>
            <p:ph idx="11" type="ftr"/>
          </p:nvPr>
        </p:nvSpPr>
        <p:spPr>
          <a:xfrm>
            <a:off x="1712499" y="5010073"/>
            <a:ext cx="5564400" cy="1518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7E7E7E"/>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2" name="Google Shape;72;p30"/>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3" name="Google Shape;73;p30"/>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 Only_2">
    <p:spTree>
      <p:nvGrpSpPr>
        <p:cNvPr id="74" name="Shape 74"/>
        <p:cNvGrpSpPr/>
        <p:nvPr/>
      </p:nvGrpSpPr>
      <p:grpSpPr>
        <a:xfrm>
          <a:off x="0" y="0"/>
          <a:ext cx="0" cy="0"/>
          <a:chOff x="0" y="0"/>
          <a:chExt cx="0" cy="0"/>
        </a:xfrm>
      </p:grpSpPr>
      <p:sp>
        <p:nvSpPr>
          <p:cNvPr id="75" name="Google Shape;75;p31"/>
          <p:cNvSpPr txBox="1"/>
          <p:nvPr>
            <p:ph type="title"/>
          </p:nvPr>
        </p:nvSpPr>
        <p:spPr>
          <a:xfrm>
            <a:off x="3932967" y="348900"/>
            <a:ext cx="1278000" cy="521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0" i="0" sz="330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76" name="Google Shape;76;p31"/>
          <p:cNvSpPr txBox="1"/>
          <p:nvPr>
            <p:ph idx="11" type="ftr"/>
          </p:nvPr>
        </p:nvSpPr>
        <p:spPr>
          <a:xfrm>
            <a:off x="1712499" y="5010073"/>
            <a:ext cx="5564400" cy="1518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7E7E7E"/>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7" name="Google Shape;77;p31"/>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8" name="Google Shape;78;p31"/>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 Only_3">
    <p:spTree>
      <p:nvGrpSpPr>
        <p:cNvPr id="79" name="Shape 79"/>
        <p:cNvGrpSpPr/>
        <p:nvPr/>
      </p:nvGrpSpPr>
      <p:grpSpPr>
        <a:xfrm>
          <a:off x="0" y="0"/>
          <a:ext cx="0" cy="0"/>
          <a:chOff x="0" y="0"/>
          <a:chExt cx="0" cy="0"/>
        </a:xfrm>
      </p:grpSpPr>
      <p:sp>
        <p:nvSpPr>
          <p:cNvPr id="80" name="Google Shape;80;p32"/>
          <p:cNvSpPr txBox="1"/>
          <p:nvPr>
            <p:ph type="title"/>
          </p:nvPr>
        </p:nvSpPr>
        <p:spPr>
          <a:xfrm>
            <a:off x="390424" y="497078"/>
            <a:ext cx="8363100" cy="45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0" i="0" sz="280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81" name="Google Shape;81;p32"/>
          <p:cNvSpPr txBox="1"/>
          <p:nvPr>
            <p:ph idx="11" type="ftr"/>
          </p:nvPr>
        </p:nvSpPr>
        <p:spPr>
          <a:xfrm>
            <a:off x="2879178" y="4948409"/>
            <a:ext cx="3503400" cy="1110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600" u="none" cap="none" strike="noStrike">
                <a:solidFill>
                  <a:srgbClr val="7D7D7D"/>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2" name="Google Shape;82;p32"/>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3" name="Google Shape;83;p32"/>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OBJECT_1">
    <p:spTree>
      <p:nvGrpSpPr>
        <p:cNvPr id="84" name="Shape 84"/>
        <p:cNvGrpSpPr/>
        <p:nvPr/>
      </p:nvGrpSpPr>
      <p:grpSpPr>
        <a:xfrm>
          <a:off x="0" y="0"/>
          <a:ext cx="0" cy="0"/>
          <a:chOff x="0" y="0"/>
          <a:chExt cx="0" cy="0"/>
        </a:xfrm>
      </p:grpSpPr>
      <p:sp>
        <p:nvSpPr>
          <p:cNvPr id="85" name="Google Shape;85;p33"/>
          <p:cNvSpPr txBox="1"/>
          <p:nvPr>
            <p:ph type="ctrTitle"/>
          </p:nvPr>
        </p:nvSpPr>
        <p:spPr>
          <a:xfrm>
            <a:off x="2938259" y="1851799"/>
            <a:ext cx="3267600" cy="818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0" i="0" sz="5200">
                <a:solidFill>
                  <a:srgbClr val="365F9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86" name="Google Shape;86;p33"/>
          <p:cNvSpPr txBox="1"/>
          <p:nvPr>
            <p:ph idx="1" type="subTitle"/>
          </p:nvPr>
        </p:nvSpPr>
        <p:spPr>
          <a:xfrm>
            <a:off x="1371600" y="2880360"/>
            <a:ext cx="6400800" cy="1285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500"/>
              <a:buNone/>
              <a:defRPr/>
            </a:lvl1pPr>
            <a:lvl2pPr lvl="1" algn="l">
              <a:lnSpc>
                <a:spcPct val="115000"/>
              </a:lnSpc>
              <a:spcBef>
                <a:spcPts val="1600"/>
              </a:spcBef>
              <a:spcAft>
                <a:spcPts val="0"/>
              </a:spcAft>
              <a:buSzPts val="1300"/>
              <a:buNone/>
              <a:defRPr/>
            </a:lvl2pPr>
            <a:lvl3pPr lvl="2" algn="l">
              <a:lnSpc>
                <a:spcPct val="115000"/>
              </a:lnSpc>
              <a:spcBef>
                <a:spcPts val="1600"/>
              </a:spcBef>
              <a:spcAft>
                <a:spcPts val="0"/>
              </a:spcAft>
              <a:buSzPts val="1200"/>
              <a:buNone/>
              <a:defRPr/>
            </a:lvl3pPr>
            <a:lvl4pPr lvl="3" algn="l">
              <a:lnSpc>
                <a:spcPct val="115000"/>
              </a:lnSpc>
              <a:spcBef>
                <a:spcPts val="1600"/>
              </a:spcBef>
              <a:spcAft>
                <a:spcPts val="0"/>
              </a:spcAft>
              <a:buSzPts val="11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9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700"/>
              <a:buNone/>
              <a:defRPr/>
            </a:lvl8pPr>
            <a:lvl9pPr lvl="8" algn="l">
              <a:lnSpc>
                <a:spcPct val="115000"/>
              </a:lnSpc>
              <a:spcBef>
                <a:spcPts val="1600"/>
              </a:spcBef>
              <a:spcAft>
                <a:spcPts val="1600"/>
              </a:spcAft>
              <a:buSzPts val="600"/>
              <a:buNone/>
              <a:defRPr/>
            </a:lvl9pPr>
          </a:lstStyle>
          <a:p/>
        </p:txBody>
      </p:sp>
      <p:sp>
        <p:nvSpPr>
          <p:cNvPr id="87" name="Google Shape;87;p33"/>
          <p:cNvSpPr txBox="1"/>
          <p:nvPr>
            <p:ph idx="11" type="ftr"/>
          </p:nvPr>
        </p:nvSpPr>
        <p:spPr>
          <a:xfrm>
            <a:off x="2879178" y="4948409"/>
            <a:ext cx="3503400" cy="1110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600" u="none" cap="none" strike="noStrike">
                <a:solidFill>
                  <a:srgbClr val="7D7D7D"/>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8" name="Google Shape;88;p3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9" name="Google Shape;89;p33"/>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OBJECT_2">
    <p:spTree>
      <p:nvGrpSpPr>
        <p:cNvPr id="90" name="Shape 90"/>
        <p:cNvGrpSpPr/>
        <p:nvPr/>
      </p:nvGrpSpPr>
      <p:grpSpPr>
        <a:xfrm>
          <a:off x="0" y="0"/>
          <a:ext cx="0" cy="0"/>
          <a:chOff x="0" y="0"/>
          <a:chExt cx="0" cy="0"/>
        </a:xfrm>
      </p:grpSpPr>
      <p:sp>
        <p:nvSpPr>
          <p:cNvPr id="91" name="Google Shape;91;p34"/>
          <p:cNvSpPr txBox="1"/>
          <p:nvPr>
            <p:ph type="title"/>
          </p:nvPr>
        </p:nvSpPr>
        <p:spPr>
          <a:xfrm>
            <a:off x="3368992" y="2453440"/>
            <a:ext cx="2406000" cy="224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1" i="0" sz="140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92" name="Google Shape;92;p34"/>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3" name="Google Shape;93;p34"/>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4" name="Google Shape;94;p34"/>
          <p:cNvSpPr txBox="1"/>
          <p:nvPr>
            <p:ph idx="12" type="sldNum"/>
          </p:nvPr>
        </p:nvSpPr>
        <p:spPr>
          <a:xfrm>
            <a:off x="50889" y="4980883"/>
            <a:ext cx="216600" cy="1230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1pPr>
            <a:lvl2pPr indent="0" lvl="1"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2pPr>
            <a:lvl3pPr indent="0" lvl="2"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3pPr>
            <a:lvl4pPr indent="0" lvl="3"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4pPr>
            <a:lvl5pPr indent="0" lvl="4"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5pPr>
            <a:lvl6pPr indent="0" lvl="5"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6pPr>
            <a:lvl7pPr indent="0" lvl="6"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7pPr>
            <a:lvl8pPr indent="0" lvl="7"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8pPr>
            <a:lvl9pPr indent="0" lvl="8"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
    <p:spTree>
      <p:nvGrpSpPr>
        <p:cNvPr id="95" name="Shape 95"/>
        <p:cNvGrpSpPr/>
        <p:nvPr/>
      </p:nvGrpSpPr>
      <p:grpSpPr>
        <a:xfrm>
          <a:off x="0" y="0"/>
          <a:ext cx="0" cy="0"/>
          <a:chOff x="0" y="0"/>
          <a:chExt cx="0" cy="0"/>
        </a:xfrm>
      </p:grpSpPr>
      <p:sp>
        <p:nvSpPr>
          <p:cNvPr id="96" name="Google Shape;96;p35"/>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7" name="Google Shape;97;p3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8" name="Google Shape;98;p35"/>
          <p:cNvSpPr txBox="1"/>
          <p:nvPr>
            <p:ph idx="12" type="sldNum"/>
          </p:nvPr>
        </p:nvSpPr>
        <p:spPr>
          <a:xfrm>
            <a:off x="50889" y="4980883"/>
            <a:ext cx="216600" cy="1230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1pPr>
            <a:lvl2pPr indent="0" lvl="1"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2pPr>
            <a:lvl3pPr indent="0" lvl="2"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3pPr>
            <a:lvl4pPr indent="0" lvl="3"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4pPr>
            <a:lvl5pPr indent="0" lvl="4"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5pPr>
            <a:lvl6pPr indent="0" lvl="5"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6pPr>
            <a:lvl7pPr indent="0" lvl="6"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7pPr>
            <a:lvl8pPr indent="0" lvl="7"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8pPr>
            <a:lvl9pPr indent="0" lvl="8"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99" name="Shape 99"/>
        <p:cNvGrpSpPr/>
        <p:nvPr/>
      </p:nvGrpSpPr>
      <p:grpSpPr>
        <a:xfrm>
          <a:off x="0" y="0"/>
          <a:ext cx="0" cy="0"/>
          <a:chOff x="0" y="0"/>
          <a:chExt cx="0" cy="0"/>
        </a:xfrm>
      </p:grpSpPr>
      <p:sp>
        <p:nvSpPr>
          <p:cNvPr id="100" name="Google Shape;100;p36"/>
          <p:cNvSpPr txBox="1"/>
          <p:nvPr>
            <p:ph type="title"/>
          </p:nvPr>
        </p:nvSpPr>
        <p:spPr>
          <a:xfrm>
            <a:off x="3368992" y="2453440"/>
            <a:ext cx="2406000" cy="224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1" i="0" sz="140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01" name="Google Shape;101;p36"/>
          <p:cNvSpPr txBox="1"/>
          <p:nvPr>
            <p:ph idx="1" type="body"/>
          </p:nvPr>
        </p:nvSpPr>
        <p:spPr>
          <a:xfrm>
            <a:off x="457200"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500"/>
              <a:buNone/>
              <a:defRPr/>
            </a:lvl1pPr>
            <a:lvl2pPr indent="-228600" lvl="1" marL="914400" algn="l">
              <a:lnSpc>
                <a:spcPct val="115000"/>
              </a:lnSpc>
              <a:spcBef>
                <a:spcPts val="1600"/>
              </a:spcBef>
              <a:spcAft>
                <a:spcPts val="0"/>
              </a:spcAft>
              <a:buSzPts val="1300"/>
              <a:buNone/>
              <a:defRPr/>
            </a:lvl2pPr>
            <a:lvl3pPr indent="-228600" lvl="2" marL="1371600" algn="l">
              <a:lnSpc>
                <a:spcPct val="115000"/>
              </a:lnSpc>
              <a:spcBef>
                <a:spcPts val="1600"/>
              </a:spcBef>
              <a:spcAft>
                <a:spcPts val="0"/>
              </a:spcAft>
              <a:buSzPts val="1200"/>
              <a:buNone/>
              <a:defRPr/>
            </a:lvl3pPr>
            <a:lvl4pPr indent="-228600" lvl="3" marL="1828800" algn="l">
              <a:lnSpc>
                <a:spcPct val="115000"/>
              </a:lnSpc>
              <a:spcBef>
                <a:spcPts val="1600"/>
              </a:spcBef>
              <a:spcAft>
                <a:spcPts val="0"/>
              </a:spcAft>
              <a:buSzPts val="1100"/>
              <a:buNone/>
              <a:defRPr/>
            </a:lvl4pPr>
            <a:lvl5pPr indent="-228600" lvl="4" marL="2286000" algn="l">
              <a:lnSpc>
                <a:spcPct val="115000"/>
              </a:lnSpc>
              <a:spcBef>
                <a:spcPts val="1600"/>
              </a:spcBef>
              <a:spcAft>
                <a:spcPts val="0"/>
              </a:spcAft>
              <a:buSzPts val="1000"/>
              <a:buNone/>
              <a:defRPr/>
            </a:lvl5pPr>
            <a:lvl6pPr indent="-228600" lvl="5" marL="2743200" algn="l">
              <a:lnSpc>
                <a:spcPct val="115000"/>
              </a:lnSpc>
              <a:spcBef>
                <a:spcPts val="1600"/>
              </a:spcBef>
              <a:spcAft>
                <a:spcPts val="0"/>
              </a:spcAft>
              <a:buSzPts val="900"/>
              <a:buNone/>
              <a:defRPr/>
            </a:lvl6pPr>
            <a:lvl7pPr indent="-228600" lvl="6" marL="3200400" algn="l">
              <a:lnSpc>
                <a:spcPct val="115000"/>
              </a:lnSpc>
              <a:spcBef>
                <a:spcPts val="1600"/>
              </a:spcBef>
              <a:spcAft>
                <a:spcPts val="0"/>
              </a:spcAft>
              <a:buSzPts val="800"/>
              <a:buNone/>
              <a:defRPr/>
            </a:lvl7pPr>
            <a:lvl8pPr indent="-228600" lvl="7" marL="3657600" algn="l">
              <a:lnSpc>
                <a:spcPct val="115000"/>
              </a:lnSpc>
              <a:spcBef>
                <a:spcPts val="1600"/>
              </a:spcBef>
              <a:spcAft>
                <a:spcPts val="0"/>
              </a:spcAft>
              <a:buSzPts val="700"/>
              <a:buNone/>
              <a:defRPr/>
            </a:lvl8pPr>
            <a:lvl9pPr indent="-228600" lvl="8" marL="4114800" algn="l">
              <a:lnSpc>
                <a:spcPct val="115000"/>
              </a:lnSpc>
              <a:spcBef>
                <a:spcPts val="1600"/>
              </a:spcBef>
              <a:spcAft>
                <a:spcPts val="1600"/>
              </a:spcAft>
              <a:buSzPts val="600"/>
              <a:buNone/>
              <a:defRPr/>
            </a:lvl9pPr>
          </a:lstStyle>
          <a:p/>
        </p:txBody>
      </p:sp>
      <p:sp>
        <p:nvSpPr>
          <p:cNvPr id="102" name="Google Shape;102;p36"/>
          <p:cNvSpPr txBox="1"/>
          <p:nvPr>
            <p:ph idx="2" type="body"/>
          </p:nvPr>
        </p:nvSpPr>
        <p:spPr>
          <a:xfrm>
            <a:off x="4709160"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500"/>
              <a:buNone/>
              <a:defRPr/>
            </a:lvl1pPr>
            <a:lvl2pPr indent="-228600" lvl="1" marL="914400" algn="l">
              <a:lnSpc>
                <a:spcPct val="115000"/>
              </a:lnSpc>
              <a:spcBef>
                <a:spcPts val="1600"/>
              </a:spcBef>
              <a:spcAft>
                <a:spcPts val="0"/>
              </a:spcAft>
              <a:buSzPts val="1300"/>
              <a:buNone/>
              <a:defRPr/>
            </a:lvl2pPr>
            <a:lvl3pPr indent="-228600" lvl="2" marL="1371600" algn="l">
              <a:lnSpc>
                <a:spcPct val="115000"/>
              </a:lnSpc>
              <a:spcBef>
                <a:spcPts val="1600"/>
              </a:spcBef>
              <a:spcAft>
                <a:spcPts val="0"/>
              </a:spcAft>
              <a:buSzPts val="1200"/>
              <a:buNone/>
              <a:defRPr/>
            </a:lvl3pPr>
            <a:lvl4pPr indent="-228600" lvl="3" marL="1828800" algn="l">
              <a:lnSpc>
                <a:spcPct val="115000"/>
              </a:lnSpc>
              <a:spcBef>
                <a:spcPts val="1600"/>
              </a:spcBef>
              <a:spcAft>
                <a:spcPts val="0"/>
              </a:spcAft>
              <a:buSzPts val="1100"/>
              <a:buNone/>
              <a:defRPr/>
            </a:lvl4pPr>
            <a:lvl5pPr indent="-228600" lvl="4" marL="2286000" algn="l">
              <a:lnSpc>
                <a:spcPct val="115000"/>
              </a:lnSpc>
              <a:spcBef>
                <a:spcPts val="1600"/>
              </a:spcBef>
              <a:spcAft>
                <a:spcPts val="0"/>
              </a:spcAft>
              <a:buSzPts val="1000"/>
              <a:buNone/>
              <a:defRPr/>
            </a:lvl5pPr>
            <a:lvl6pPr indent="-228600" lvl="5" marL="2743200" algn="l">
              <a:lnSpc>
                <a:spcPct val="115000"/>
              </a:lnSpc>
              <a:spcBef>
                <a:spcPts val="1600"/>
              </a:spcBef>
              <a:spcAft>
                <a:spcPts val="0"/>
              </a:spcAft>
              <a:buSzPts val="900"/>
              <a:buNone/>
              <a:defRPr/>
            </a:lvl6pPr>
            <a:lvl7pPr indent="-228600" lvl="6" marL="3200400" algn="l">
              <a:lnSpc>
                <a:spcPct val="115000"/>
              </a:lnSpc>
              <a:spcBef>
                <a:spcPts val="1600"/>
              </a:spcBef>
              <a:spcAft>
                <a:spcPts val="0"/>
              </a:spcAft>
              <a:buSzPts val="800"/>
              <a:buNone/>
              <a:defRPr/>
            </a:lvl7pPr>
            <a:lvl8pPr indent="-228600" lvl="7" marL="3657600" algn="l">
              <a:lnSpc>
                <a:spcPct val="115000"/>
              </a:lnSpc>
              <a:spcBef>
                <a:spcPts val="1600"/>
              </a:spcBef>
              <a:spcAft>
                <a:spcPts val="0"/>
              </a:spcAft>
              <a:buSzPts val="700"/>
              <a:buNone/>
              <a:defRPr/>
            </a:lvl8pPr>
            <a:lvl9pPr indent="-228600" lvl="8" marL="4114800" algn="l">
              <a:lnSpc>
                <a:spcPct val="115000"/>
              </a:lnSpc>
              <a:spcBef>
                <a:spcPts val="1600"/>
              </a:spcBef>
              <a:spcAft>
                <a:spcPts val="1600"/>
              </a:spcAft>
              <a:buSzPts val="600"/>
              <a:buNone/>
              <a:defRPr/>
            </a:lvl9pPr>
          </a:lstStyle>
          <a:p/>
        </p:txBody>
      </p:sp>
      <p:sp>
        <p:nvSpPr>
          <p:cNvPr id="103" name="Google Shape;103;p36"/>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4" name="Google Shape;104;p36"/>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5" name="Google Shape;105;p36"/>
          <p:cNvSpPr txBox="1"/>
          <p:nvPr>
            <p:ph idx="12" type="sldNum"/>
          </p:nvPr>
        </p:nvSpPr>
        <p:spPr>
          <a:xfrm>
            <a:off x="50889" y="4980883"/>
            <a:ext cx="216600" cy="1230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1pPr>
            <a:lvl2pPr indent="0" lvl="1"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2pPr>
            <a:lvl3pPr indent="0" lvl="2"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3pPr>
            <a:lvl4pPr indent="0" lvl="3"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4pPr>
            <a:lvl5pPr indent="0" lvl="4"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5pPr>
            <a:lvl6pPr indent="0" lvl="5"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6pPr>
            <a:lvl7pPr indent="0" lvl="6"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7pPr>
            <a:lvl8pPr indent="0" lvl="7"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8pPr>
            <a:lvl9pPr indent="0" lvl="8"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1">
  <p:cSld name="OBJECT_1_1">
    <p:spTree>
      <p:nvGrpSpPr>
        <p:cNvPr id="106" name="Shape 106"/>
        <p:cNvGrpSpPr/>
        <p:nvPr/>
      </p:nvGrpSpPr>
      <p:grpSpPr>
        <a:xfrm>
          <a:off x="0" y="0"/>
          <a:ext cx="0" cy="0"/>
          <a:chOff x="0" y="0"/>
          <a:chExt cx="0" cy="0"/>
        </a:xfrm>
      </p:grpSpPr>
      <p:sp>
        <p:nvSpPr>
          <p:cNvPr id="107" name="Google Shape;107;p37"/>
          <p:cNvSpPr txBox="1"/>
          <p:nvPr>
            <p:ph type="title"/>
          </p:nvPr>
        </p:nvSpPr>
        <p:spPr>
          <a:xfrm>
            <a:off x="2936867" y="2199322"/>
            <a:ext cx="3275400" cy="673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1" i="0" sz="4300">
                <a:solidFill>
                  <a:schemeClr val="accent2"/>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08" name="Google Shape;108;p37"/>
          <p:cNvSpPr txBox="1"/>
          <p:nvPr>
            <p:ph idx="11" type="ftr"/>
          </p:nvPr>
        </p:nvSpPr>
        <p:spPr>
          <a:xfrm>
            <a:off x="708292" y="4920311"/>
            <a:ext cx="6447300" cy="1788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9" name="Google Shape;109;p37"/>
          <p:cNvSpPr txBox="1"/>
          <p:nvPr>
            <p:ph idx="10" type="dt"/>
          </p:nvPr>
        </p:nvSpPr>
        <p:spPr>
          <a:xfrm>
            <a:off x="457452" y="4783454"/>
            <a:ext cx="21042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0" name="Google Shape;110;p37"/>
          <p:cNvSpPr txBox="1"/>
          <p:nvPr>
            <p:ph idx="12" type="sldNum"/>
          </p:nvPr>
        </p:nvSpPr>
        <p:spPr>
          <a:xfrm>
            <a:off x="7529030" y="4838548"/>
            <a:ext cx="188400" cy="1692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1pPr>
            <a:lvl2pPr indent="0" lvl="1"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2pPr>
            <a:lvl3pPr indent="0" lvl="2"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3pPr>
            <a:lvl4pPr indent="0" lvl="3"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4pPr>
            <a:lvl5pPr indent="0" lvl="4"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5pPr>
            <a:lvl6pPr indent="0" lvl="5"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6pPr>
            <a:lvl7pPr indent="0" lvl="6"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7pPr>
            <a:lvl8pPr indent="0" lvl="7"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8pPr>
            <a:lvl9pPr indent="0" lvl="8"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
              <a:t>‹#›</a:t>
            </a:fld>
            <a:endParaRPr b="1" sz="800">
              <a:solidFill>
                <a:srgbClr val="434343"/>
              </a:solidFill>
              <a:latin typeface="Nunito"/>
              <a:ea typeface="Nunito"/>
              <a:cs typeface="Nunito"/>
              <a:sym typeface="Nuni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
  <p:cSld name="TITLE_AND_BODY_1">
    <p:spTree>
      <p:nvGrpSpPr>
        <p:cNvPr id="111" name="Shape 111"/>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1">
  <p:cSld name="Blank 2">
    <p:spTree>
      <p:nvGrpSpPr>
        <p:cNvPr id="112" name="Shape 112"/>
        <p:cNvGrpSpPr/>
        <p:nvPr/>
      </p:nvGrpSpPr>
      <p:grpSpPr>
        <a:xfrm>
          <a:off x="0" y="0"/>
          <a:ext cx="0" cy="0"/>
          <a:chOff x="0" y="0"/>
          <a:chExt cx="0" cy="0"/>
        </a:xfrm>
      </p:grpSpPr>
      <p:sp>
        <p:nvSpPr>
          <p:cNvPr id="113" name="Google Shape;113;p39"/>
          <p:cNvSpPr/>
          <p:nvPr/>
        </p:nvSpPr>
        <p:spPr>
          <a:xfrm>
            <a:off x="0" y="0"/>
            <a:ext cx="9144000" cy="51435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23" name="Shape 123"/>
        <p:cNvGrpSpPr/>
        <p:nvPr/>
      </p:nvGrpSpPr>
      <p:grpSpPr>
        <a:xfrm>
          <a:off x="0" y="0"/>
          <a:ext cx="0" cy="0"/>
          <a:chOff x="0" y="0"/>
          <a:chExt cx="0" cy="0"/>
        </a:xfrm>
      </p:grpSpPr>
      <p:sp>
        <p:nvSpPr>
          <p:cNvPr id="124" name="Google Shape;124;p17"/>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125" name="Google Shape;125;p17"/>
          <p:cNvPicPr preferRelativeResize="0"/>
          <p:nvPr/>
        </p:nvPicPr>
        <p:blipFill rotWithShape="1">
          <a:blip r:embed="rId2">
            <a:alphaModFix/>
          </a:blip>
          <a:srcRect b="19151" l="42816" r="37296" t="18358"/>
          <a:stretch/>
        </p:blipFill>
        <p:spPr>
          <a:xfrm>
            <a:off x="6052536" y="514443"/>
            <a:ext cx="2095112" cy="3703320"/>
          </a:xfrm>
          <a:prstGeom prst="rect">
            <a:avLst/>
          </a:prstGeom>
          <a:noFill/>
          <a:ln>
            <a:noFill/>
          </a:ln>
        </p:spPr>
      </p:pic>
      <p:sp>
        <p:nvSpPr>
          <p:cNvPr id="126" name="Google Shape;126;p17"/>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127" name="Google Shape;127;p17"/>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128" name="Google Shape;128;p17"/>
          <p:cNvPicPr preferRelativeResize="0"/>
          <p:nvPr/>
        </p:nvPicPr>
        <p:blipFill rotWithShape="1">
          <a:blip r:embed="rId3">
            <a:alphaModFix/>
          </a:blip>
          <a:srcRect b="0" l="0" r="0" t="0"/>
          <a:stretch/>
        </p:blipFill>
        <p:spPr>
          <a:xfrm>
            <a:off x="421875" y="769949"/>
            <a:ext cx="3071452" cy="12612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9" name="Shape 129"/>
        <p:cNvGrpSpPr/>
        <p:nvPr/>
      </p:nvGrpSpPr>
      <p:grpSpPr>
        <a:xfrm>
          <a:off x="0" y="0"/>
          <a:ext cx="0" cy="0"/>
          <a:chOff x="0" y="0"/>
          <a:chExt cx="0" cy="0"/>
        </a:xfrm>
      </p:grpSpPr>
      <p:sp>
        <p:nvSpPr>
          <p:cNvPr id="130" name="Google Shape;130;p40"/>
          <p:cNvSpPr txBox="1"/>
          <p:nvPr>
            <p:ph type="ctrTitle"/>
          </p:nvPr>
        </p:nvSpPr>
        <p:spPr>
          <a:xfrm>
            <a:off x="1260908" y="717750"/>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131" name="Google Shape;131;p40"/>
          <p:cNvSpPr txBox="1"/>
          <p:nvPr>
            <p:ph idx="1" type="subTitle"/>
          </p:nvPr>
        </p:nvSpPr>
        <p:spPr>
          <a:xfrm>
            <a:off x="1260902" y="2770350"/>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2" name="Shape 132"/>
        <p:cNvGrpSpPr/>
        <p:nvPr/>
      </p:nvGrpSpPr>
      <p:grpSpPr>
        <a:xfrm>
          <a:off x="0" y="0"/>
          <a:ext cx="0" cy="0"/>
          <a:chOff x="0" y="0"/>
          <a:chExt cx="0" cy="0"/>
        </a:xfrm>
      </p:grpSpPr>
      <p:sp>
        <p:nvSpPr>
          <p:cNvPr id="133" name="Google Shape;133;p4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134" name="Google Shape;134;p4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5" name="Shape 135"/>
        <p:cNvGrpSpPr/>
        <p:nvPr/>
      </p:nvGrpSpPr>
      <p:grpSpPr>
        <a:xfrm>
          <a:off x="0" y="0"/>
          <a:ext cx="0" cy="0"/>
          <a:chOff x="0" y="0"/>
          <a:chExt cx="0" cy="0"/>
        </a:xfrm>
      </p:grpSpPr>
      <p:sp>
        <p:nvSpPr>
          <p:cNvPr id="136" name="Google Shape;136;p42"/>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37" name="Google Shape;137;p42"/>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138" name="Google Shape;138;p4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139" name="Shape 139"/>
        <p:cNvGrpSpPr/>
        <p:nvPr/>
      </p:nvGrpSpPr>
      <p:grpSpPr>
        <a:xfrm>
          <a:off x="0" y="0"/>
          <a:ext cx="0" cy="0"/>
          <a:chOff x="0" y="0"/>
          <a:chExt cx="0" cy="0"/>
        </a:xfrm>
      </p:grpSpPr>
      <p:sp>
        <p:nvSpPr>
          <p:cNvPr id="140" name="Google Shape;140;p43"/>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141" name="Google Shape;141;p43"/>
          <p:cNvGraphicFramePr/>
          <p:nvPr/>
        </p:nvGraphicFramePr>
        <p:xfrm>
          <a:off x="201942" y="833662"/>
          <a:ext cx="3000000" cy="3000000"/>
        </p:xfrm>
        <a:graphic>
          <a:graphicData uri="http://schemas.openxmlformats.org/drawingml/2006/table">
            <a:tbl>
              <a:tblPr bandRow="1" firstRow="1">
                <a:noFill/>
                <a:tableStyleId>{5E54716C-8D3B-42A0-B801-0DC5BC4BABD5}</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142" name="Google Shape;142;p4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3" name="Shape 143"/>
        <p:cNvGrpSpPr/>
        <p:nvPr/>
      </p:nvGrpSpPr>
      <p:grpSpPr>
        <a:xfrm>
          <a:off x="0" y="0"/>
          <a:ext cx="0" cy="0"/>
          <a:chOff x="0" y="0"/>
          <a:chExt cx="0" cy="0"/>
        </a:xfrm>
      </p:grpSpPr>
      <p:sp>
        <p:nvSpPr>
          <p:cNvPr id="144" name="Google Shape;144;p44"/>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45" name="Google Shape;145;p4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46" name="Google Shape;146;p4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47" name="Google Shape;147;p4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8" name="Shape 148"/>
        <p:cNvGrpSpPr/>
        <p:nvPr/>
      </p:nvGrpSpPr>
      <p:grpSpPr>
        <a:xfrm>
          <a:off x="0" y="0"/>
          <a:ext cx="0" cy="0"/>
          <a:chOff x="0" y="0"/>
          <a:chExt cx="0" cy="0"/>
        </a:xfrm>
      </p:grpSpPr>
      <p:sp>
        <p:nvSpPr>
          <p:cNvPr id="149" name="Google Shape;149;p45"/>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50" name="Google Shape;150;p4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1" name="Shape 151"/>
        <p:cNvGrpSpPr/>
        <p:nvPr/>
      </p:nvGrpSpPr>
      <p:grpSpPr>
        <a:xfrm>
          <a:off x="0" y="0"/>
          <a:ext cx="0" cy="0"/>
          <a:chOff x="0" y="0"/>
          <a:chExt cx="0" cy="0"/>
        </a:xfrm>
      </p:grpSpPr>
      <p:sp>
        <p:nvSpPr>
          <p:cNvPr id="152" name="Google Shape;152;p4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53" name="Google Shape;153;p4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4" name="Shape 154"/>
        <p:cNvGrpSpPr/>
        <p:nvPr/>
      </p:nvGrpSpPr>
      <p:grpSpPr>
        <a:xfrm>
          <a:off x="0" y="0"/>
          <a:ext cx="0" cy="0"/>
          <a:chOff x="0" y="0"/>
          <a:chExt cx="0" cy="0"/>
        </a:xfrm>
      </p:grpSpPr>
      <p:sp>
        <p:nvSpPr>
          <p:cNvPr id="155" name="Google Shape;155;p4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4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57" name="Google Shape;157;p4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58" name="Google Shape;158;p4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159" name="Google Shape;159;p47"/>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0" name="Shape 160"/>
        <p:cNvGrpSpPr/>
        <p:nvPr/>
      </p:nvGrpSpPr>
      <p:grpSpPr>
        <a:xfrm>
          <a:off x="0" y="0"/>
          <a:ext cx="0" cy="0"/>
          <a:chOff x="0" y="0"/>
          <a:chExt cx="0" cy="0"/>
        </a:xfrm>
      </p:grpSpPr>
      <p:sp>
        <p:nvSpPr>
          <p:cNvPr id="161" name="Google Shape;161;p48"/>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5" Type="http://schemas.openxmlformats.org/officeDocument/2006/relationships/theme" Target="../theme/theme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9pPr>
          </a:lstStyle>
          <a:p/>
        </p:txBody>
      </p:sp>
      <p:sp>
        <p:nvSpPr>
          <p:cNvPr id="7" name="Google Shape;7;p14"/>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8" name="Google Shape;8;p14"/>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9" name="Google Shape;9;p1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10" name="Google Shape;10;p14"/>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11" name="Google Shape;11;p14"/>
          <p:cNvGrpSpPr/>
          <p:nvPr/>
        </p:nvGrpSpPr>
        <p:grpSpPr>
          <a:xfrm>
            <a:off x="6593" y="10"/>
            <a:ext cx="175500" cy="709221"/>
            <a:chOff x="6593" y="10"/>
            <a:chExt cx="175500" cy="709221"/>
          </a:xfrm>
        </p:grpSpPr>
        <p:sp>
          <p:nvSpPr>
            <p:cNvPr id="12" name="Google Shape;12;p14"/>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4"/>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4" name="Shape 114"/>
        <p:cNvGrpSpPr/>
        <p:nvPr/>
      </p:nvGrpSpPr>
      <p:grpSpPr>
        <a:xfrm>
          <a:off x="0" y="0"/>
          <a:ext cx="0" cy="0"/>
          <a:chOff x="0" y="0"/>
          <a:chExt cx="0" cy="0"/>
        </a:xfrm>
      </p:grpSpPr>
      <p:sp>
        <p:nvSpPr>
          <p:cNvPr id="115" name="Google Shape;115;p16"/>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9pPr>
          </a:lstStyle>
          <a:p/>
        </p:txBody>
      </p:sp>
      <p:sp>
        <p:nvSpPr>
          <p:cNvPr id="116" name="Google Shape;116;p16"/>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117" name="Google Shape;117;p16"/>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118" name="Google Shape;118;p1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119" name="Google Shape;119;p16"/>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120" name="Google Shape;120;p16"/>
          <p:cNvGrpSpPr/>
          <p:nvPr/>
        </p:nvGrpSpPr>
        <p:grpSpPr>
          <a:xfrm>
            <a:off x="6593" y="10"/>
            <a:ext cx="175500" cy="709221"/>
            <a:chOff x="6593" y="10"/>
            <a:chExt cx="175500" cy="709221"/>
          </a:xfrm>
        </p:grpSpPr>
        <p:sp>
          <p:nvSpPr>
            <p:cNvPr id="121" name="Google Shape;121;p16"/>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6"/>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6.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4.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8.png"/><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
          <p:cNvSpPr txBox="1"/>
          <p:nvPr/>
        </p:nvSpPr>
        <p:spPr>
          <a:xfrm>
            <a:off x="1632725" y="1227550"/>
            <a:ext cx="6544800" cy="815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100"/>
              <a:buFont typeface="Arial"/>
              <a:buNone/>
            </a:pPr>
            <a:r>
              <a:rPr b="1" lang="en" sz="4100">
                <a:solidFill>
                  <a:srgbClr val="0E39A9"/>
                </a:solidFill>
                <a:latin typeface="Nunito"/>
                <a:ea typeface="Nunito"/>
                <a:cs typeface="Nunito"/>
                <a:sym typeface="Nunito"/>
              </a:rPr>
              <a:t>Personal Loan Campaign</a:t>
            </a:r>
            <a:endParaRPr b="1" i="0" sz="4100" u="none" cap="none" strike="noStrike">
              <a:solidFill>
                <a:srgbClr val="0E39A9"/>
              </a:solidFill>
              <a:latin typeface="Nunito"/>
              <a:ea typeface="Nunito"/>
              <a:cs typeface="Nunito"/>
              <a:sym typeface="Nunito"/>
            </a:endParaRPr>
          </a:p>
        </p:txBody>
      </p:sp>
      <p:sp>
        <p:nvSpPr>
          <p:cNvPr id="167" name="Google Shape;167;p1"/>
          <p:cNvSpPr txBox="1"/>
          <p:nvPr/>
        </p:nvSpPr>
        <p:spPr>
          <a:xfrm>
            <a:off x="1632725" y="1940550"/>
            <a:ext cx="51993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lang="en" sz="2900">
                <a:solidFill>
                  <a:srgbClr val="0E39A9"/>
                </a:solidFill>
                <a:latin typeface="Nunito"/>
                <a:ea typeface="Nunito"/>
                <a:cs typeface="Nunito"/>
                <a:sym typeface="Nunito"/>
              </a:rPr>
              <a:t>Machine Learning </a:t>
            </a:r>
            <a:endParaRPr b="0" i="0" sz="2900" u="none" cap="none" strike="noStrike">
              <a:solidFill>
                <a:srgbClr val="0E39A9"/>
              </a:solidFill>
              <a:latin typeface="Nunito"/>
              <a:ea typeface="Nunito"/>
              <a:cs typeface="Nunito"/>
              <a:sym typeface="Nunito"/>
            </a:endParaRPr>
          </a:p>
        </p:txBody>
      </p:sp>
      <p:sp>
        <p:nvSpPr>
          <p:cNvPr id="168" name="Google Shape;168;p1"/>
          <p:cNvSpPr txBox="1"/>
          <p:nvPr/>
        </p:nvSpPr>
        <p:spPr>
          <a:xfrm>
            <a:off x="1632725" y="2586175"/>
            <a:ext cx="17625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n" sz="2200">
                <a:solidFill>
                  <a:srgbClr val="0E39A9"/>
                </a:solidFill>
                <a:latin typeface="Nunito"/>
                <a:ea typeface="Nunito"/>
                <a:cs typeface="Nunito"/>
                <a:sym typeface="Nunito"/>
              </a:rPr>
              <a:t>8</a:t>
            </a:r>
            <a:r>
              <a:rPr lang="en" sz="2200">
                <a:solidFill>
                  <a:srgbClr val="0E39A9"/>
                </a:solidFill>
                <a:latin typeface="Nunito"/>
                <a:ea typeface="Nunito"/>
                <a:cs typeface="Nunito"/>
                <a:sym typeface="Nunito"/>
              </a:rPr>
              <a:t>/11</a:t>
            </a:r>
            <a:r>
              <a:rPr lang="en" sz="2200">
                <a:solidFill>
                  <a:srgbClr val="0E39A9"/>
                </a:solidFill>
                <a:latin typeface="Nunito"/>
                <a:ea typeface="Nunito"/>
                <a:cs typeface="Nunito"/>
                <a:sym typeface="Nunito"/>
              </a:rPr>
              <a:t>/2024</a:t>
            </a:r>
            <a:endParaRPr b="0" i="0" sz="2200" u="none" cap="none" strike="noStrike">
              <a:solidFill>
                <a:srgbClr val="0E39A9"/>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Contents / Agenda</a:t>
            </a:r>
            <a:endParaRPr sz="2400">
              <a:solidFill>
                <a:srgbClr val="0E39A9"/>
              </a:solidFill>
            </a:endParaRPr>
          </a:p>
        </p:txBody>
      </p:sp>
      <p:sp>
        <p:nvSpPr>
          <p:cNvPr id="174" name="Google Shape;174;p2"/>
          <p:cNvSpPr txBox="1"/>
          <p:nvPr/>
        </p:nvSpPr>
        <p:spPr>
          <a:xfrm>
            <a:off x="325250" y="808475"/>
            <a:ext cx="8397900" cy="24885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Executive Summary</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Business Problem Overview and Solution Approach</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EDA Results </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Data Preprocessing </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Model Performance Summary </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Appendix</a:t>
            </a:r>
            <a:endParaRPr b="0" i="0" sz="1600" u="none" cap="none" strike="noStrike">
              <a:solidFill>
                <a:srgbClr val="000000"/>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Executive Summary</a:t>
            </a:r>
            <a:endParaRPr sz="2400">
              <a:solidFill>
                <a:srgbClr val="0E39A9"/>
              </a:solidFill>
            </a:endParaRPr>
          </a:p>
        </p:txBody>
      </p:sp>
      <p:sp>
        <p:nvSpPr>
          <p:cNvPr id="180" name="Google Shape;180;p3"/>
          <p:cNvSpPr txBox="1"/>
          <p:nvPr/>
        </p:nvSpPr>
        <p:spPr>
          <a:xfrm>
            <a:off x="325250" y="808475"/>
            <a:ext cx="8397900" cy="36642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SzPts val="1100"/>
              <a:buFont typeface="Nunito"/>
              <a:buAutoNum type="arabicPeriod"/>
            </a:pPr>
            <a:r>
              <a:rPr lang="en" sz="1100">
                <a:latin typeface="Nunito"/>
                <a:ea typeface="Nunito"/>
                <a:cs typeface="Nunito"/>
                <a:sym typeface="Nunito"/>
              </a:rPr>
              <a:t>Personal Loan campaign data was analyzed and Decision Tree Classifier model was used to build a likelihood of Customer buying Loan. Decision tree can easily overfit, so pre-pruning and post-pruning was used to improve performance. The Post Pruned Decision tree can predict the outcome correctly 98% of the time. The goal was to have minimal false positives as that would lead to loss of money by targeting wrong customers.</a:t>
            </a:r>
            <a:endParaRPr sz="1100">
              <a:latin typeface="Nunito"/>
              <a:ea typeface="Nunito"/>
              <a:cs typeface="Nunito"/>
              <a:sym typeface="Nunito"/>
            </a:endParaRPr>
          </a:p>
          <a:p>
            <a:pPr indent="0" lvl="0" marL="914400" rtl="0" algn="l">
              <a:lnSpc>
                <a:spcPct val="115000"/>
              </a:lnSpc>
              <a:spcBef>
                <a:spcPts val="0"/>
              </a:spcBef>
              <a:spcAft>
                <a:spcPts val="0"/>
              </a:spcAft>
              <a:buNone/>
            </a:pPr>
            <a:r>
              <a:t/>
            </a:r>
            <a:endParaRPr sz="1100">
              <a:latin typeface="Nunito"/>
              <a:ea typeface="Nunito"/>
              <a:cs typeface="Nunito"/>
              <a:sym typeface="Nunito"/>
            </a:endParaRPr>
          </a:p>
          <a:p>
            <a:pPr indent="-298450" lvl="0" marL="457200" rtl="0" algn="l">
              <a:lnSpc>
                <a:spcPct val="115000"/>
              </a:lnSpc>
              <a:spcBef>
                <a:spcPts val="0"/>
              </a:spcBef>
              <a:spcAft>
                <a:spcPts val="0"/>
              </a:spcAft>
              <a:buSzPts val="1100"/>
              <a:buFont typeface="Nunito"/>
              <a:buAutoNum type="arabicPeriod"/>
            </a:pPr>
            <a:r>
              <a:rPr lang="en" sz="1100">
                <a:latin typeface="Nunito"/>
                <a:ea typeface="Nunito"/>
                <a:cs typeface="Nunito"/>
                <a:sym typeface="Nunito"/>
              </a:rPr>
              <a:t>In the </a:t>
            </a:r>
            <a:r>
              <a:rPr lang="en" sz="1100">
                <a:latin typeface="Nunito"/>
                <a:ea typeface="Nunito"/>
                <a:cs typeface="Nunito"/>
                <a:sym typeface="Nunito"/>
              </a:rPr>
              <a:t>analysis phase, it was identified that </a:t>
            </a:r>
            <a:r>
              <a:rPr lang="en" sz="1100">
                <a:latin typeface="Nunito"/>
                <a:ea typeface="Nunito"/>
                <a:cs typeface="Nunito"/>
                <a:sym typeface="Nunito"/>
              </a:rPr>
              <a:t>Income, Education, Family, and Credit Card usage are the most important features that impact the prediction of potential loan customers. Of these Income had the highest impact on the </a:t>
            </a:r>
            <a:r>
              <a:rPr lang="en" sz="1100">
                <a:latin typeface="Nunito"/>
                <a:ea typeface="Nunito"/>
                <a:cs typeface="Nunito"/>
                <a:sym typeface="Nunito"/>
              </a:rPr>
              <a:t>potential</a:t>
            </a:r>
            <a:r>
              <a:rPr lang="en" sz="1100">
                <a:latin typeface="Nunito"/>
                <a:ea typeface="Nunito"/>
                <a:cs typeface="Nunito"/>
                <a:sym typeface="Nunito"/>
              </a:rPr>
              <a:t> of a customer applying for a Personal Loan. </a:t>
            </a:r>
            <a:endParaRPr sz="1100">
              <a:latin typeface="Nunito"/>
              <a:ea typeface="Nunito"/>
              <a:cs typeface="Nunito"/>
              <a:sym typeface="Nunito"/>
            </a:endParaRPr>
          </a:p>
          <a:p>
            <a:pPr indent="0" lvl="0" marL="914400" rtl="0" algn="l">
              <a:lnSpc>
                <a:spcPct val="115000"/>
              </a:lnSpc>
              <a:spcBef>
                <a:spcPts val="0"/>
              </a:spcBef>
              <a:spcAft>
                <a:spcPts val="0"/>
              </a:spcAft>
              <a:buNone/>
            </a:pPr>
            <a:r>
              <a:t/>
            </a:r>
            <a:endParaRPr sz="1100">
              <a:latin typeface="Nunito"/>
              <a:ea typeface="Nunito"/>
              <a:cs typeface="Nunito"/>
              <a:sym typeface="Nunito"/>
            </a:endParaRPr>
          </a:p>
          <a:p>
            <a:pPr indent="-298450" lvl="0" marL="457200" rtl="0" algn="l">
              <a:lnSpc>
                <a:spcPct val="115000"/>
              </a:lnSpc>
              <a:spcBef>
                <a:spcPts val="0"/>
              </a:spcBef>
              <a:spcAft>
                <a:spcPts val="0"/>
              </a:spcAft>
              <a:buSzPts val="1100"/>
              <a:buFont typeface="Nunito"/>
              <a:buAutoNum type="arabicPeriod"/>
            </a:pPr>
            <a:r>
              <a:rPr lang="en" sz="1100">
                <a:latin typeface="Nunito"/>
                <a:ea typeface="Nunito"/>
                <a:cs typeface="Nunito"/>
                <a:sym typeface="Nunito"/>
              </a:rPr>
              <a:t>Customers with an income higher than 98K and with an advanced education level greater than or equal to 3 are most likely to apply for a personal loan. </a:t>
            </a:r>
            <a:endParaRPr sz="1100">
              <a:latin typeface="Nunito"/>
              <a:ea typeface="Nunito"/>
              <a:cs typeface="Nunito"/>
              <a:sym typeface="Nunito"/>
            </a:endParaRPr>
          </a:p>
          <a:p>
            <a:pPr indent="0" lvl="0" marL="914400" rtl="0" algn="l">
              <a:lnSpc>
                <a:spcPct val="115000"/>
              </a:lnSpc>
              <a:spcBef>
                <a:spcPts val="0"/>
              </a:spcBef>
              <a:spcAft>
                <a:spcPts val="0"/>
              </a:spcAft>
              <a:buNone/>
            </a:pPr>
            <a:r>
              <a:t/>
            </a:r>
            <a:endParaRPr sz="1100">
              <a:latin typeface="Nunito"/>
              <a:ea typeface="Nunito"/>
              <a:cs typeface="Nunito"/>
              <a:sym typeface="Nunito"/>
            </a:endParaRPr>
          </a:p>
          <a:p>
            <a:pPr indent="-298450" lvl="0" marL="457200" rtl="0" algn="l">
              <a:lnSpc>
                <a:spcPct val="115000"/>
              </a:lnSpc>
              <a:spcBef>
                <a:spcPts val="0"/>
              </a:spcBef>
              <a:spcAft>
                <a:spcPts val="0"/>
              </a:spcAft>
              <a:buSzPts val="1100"/>
              <a:buFont typeface="Nunito"/>
              <a:buAutoNum type="arabicPeriod"/>
            </a:pPr>
            <a:r>
              <a:rPr lang="en" sz="1100">
                <a:latin typeface="Nunito"/>
                <a:ea typeface="Nunito"/>
                <a:cs typeface="Nunito"/>
                <a:sym typeface="Nunito"/>
              </a:rPr>
              <a:t>Targeting</a:t>
            </a:r>
            <a:r>
              <a:rPr lang="en" sz="1100">
                <a:latin typeface="Nunito"/>
                <a:ea typeface="Nunito"/>
                <a:cs typeface="Nunito"/>
                <a:sym typeface="Nunito"/>
              </a:rPr>
              <a:t> high profile customers, those who have high incomes and spending habits, and are highly educated with bigger families, by launching a marketing campaign to provide them with a personalized experience both online and in person and quoting competitive interest rates.</a:t>
            </a:r>
            <a:endParaRPr sz="1100">
              <a:latin typeface="Nunito"/>
              <a:ea typeface="Nunito"/>
              <a:cs typeface="Nunito"/>
              <a:sym typeface="Nunito"/>
            </a:endParaRPr>
          </a:p>
          <a:p>
            <a:pPr indent="0" lvl="0" marL="914400" rtl="0" algn="l">
              <a:lnSpc>
                <a:spcPct val="115000"/>
              </a:lnSpc>
              <a:spcBef>
                <a:spcPts val="0"/>
              </a:spcBef>
              <a:spcAft>
                <a:spcPts val="0"/>
              </a:spcAft>
              <a:buNone/>
            </a:pPr>
            <a:r>
              <a:t/>
            </a:r>
            <a:endParaRPr sz="1100">
              <a:latin typeface="Nunito"/>
              <a:ea typeface="Nunito"/>
              <a:cs typeface="Nunito"/>
              <a:sym typeface="Nunito"/>
            </a:endParaRPr>
          </a:p>
          <a:p>
            <a:pPr indent="-298450" lvl="0" marL="457200" rtl="0" algn="l">
              <a:lnSpc>
                <a:spcPct val="115000"/>
              </a:lnSpc>
              <a:spcBef>
                <a:spcPts val="0"/>
              </a:spcBef>
              <a:spcAft>
                <a:spcPts val="0"/>
              </a:spcAft>
              <a:buSzPts val="1100"/>
              <a:buFont typeface="Nunito"/>
              <a:buAutoNum type="arabicPeriod"/>
            </a:pPr>
            <a:r>
              <a:rPr lang="en" sz="1100">
                <a:latin typeface="Nunito"/>
                <a:ea typeface="Nunito"/>
                <a:cs typeface="Nunito"/>
                <a:sym typeface="Nunito"/>
              </a:rPr>
              <a:t>Other potential customers can be attracted by </a:t>
            </a:r>
            <a:r>
              <a:rPr lang="en" sz="1100">
                <a:latin typeface="Nunito"/>
                <a:ea typeface="Nunito"/>
                <a:cs typeface="Nunito"/>
                <a:sym typeface="Nunito"/>
              </a:rPr>
              <a:t>pre qualifying</a:t>
            </a:r>
            <a:r>
              <a:rPr lang="en" sz="1100">
                <a:latin typeface="Nunito"/>
                <a:ea typeface="Nunito"/>
                <a:cs typeface="Nunito"/>
                <a:sym typeface="Nunito"/>
              </a:rPr>
              <a:t> them for loans and convert them to asset customers.</a:t>
            </a:r>
            <a:endParaRPr sz="1100">
              <a:latin typeface="Nunito"/>
              <a:ea typeface="Nunito"/>
              <a:cs typeface="Nunito"/>
              <a:sym typeface="Nunito"/>
            </a:endParaRPr>
          </a:p>
          <a:p>
            <a:pPr indent="0" lvl="0" marL="0" rtl="0" algn="l">
              <a:lnSpc>
                <a:spcPct val="115000"/>
              </a:lnSpc>
              <a:spcBef>
                <a:spcPts val="0"/>
              </a:spcBef>
              <a:spcAft>
                <a:spcPts val="0"/>
              </a:spcAft>
              <a:buNone/>
            </a:pPr>
            <a:r>
              <a:t/>
            </a:r>
            <a:endParaRPr sz="1100">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4"/>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200"/>
              <a:buNone/>
            </a:pPr>
            <a:r>
              <a:rPr lang="en" sz="2400">
                <a:solidFill>
                  <a:schemeClr val="lt2"/>
                </a:solidFill>
              </a:rPr>
              <a:t>Business Problem Overview and Solution Approach</a:t>
            </a:r>
            <a:endParaRPr sz="2400">
              <a:solidFill>
                <a:schemeClr val="lt2"/>
              </a:solidFill>
            </a:endParaRPr>
          </a:p>
          <a:p>
            <a:pPr indent="0" lvl="0" marL="0" rtl="0" algn="l">
              <a:spcBef>
                <a:spcPts val="0"/>
              </a:spcBef>
              <a:spcAft>
                <a:spcPts val="0"/>
              </a:spcAft>
              <a:buSzPts val="2200"/>
              <a:buNone/>
            </a:pPr>
            <a:r>
              <a:t/>
            </a:r>
            <a:endParaRPr/>
          </a:p>
        </p:txBody>
      </p:sp>
      <p:sp>
        <p:nvSpPr>
          <p:cNvPr id="186" name="Google Shape;186;p4"/>
          <p:cNvSpPr txBox="1"/>
          <p:nvPr/>
        </p:nvSpPr>
        <p:spPr>
          <a:xfrm>
            <a:off x="325250" y="808475"/>
            <a:ext cx="8397900" cy="3263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AllLife Bank is a US bank that has a growing customer base. Majority of the customers are depositors. The number of </a:t>
            </a:r>
            <a:r>
              <a:rPr lang="en" sz="1600">
                <a:latin typeface="Nunito"/>
                <a:ea typeface="Nunito"/>
                <a:cs typeface="Nunito"/>
                <a:sym typeface="Nunito"/>
              </a:rPr>
              <a:t>borrowers</a:t>
            </a:r>
            <a:r>
              <a:rPr lang="en" sz="1600">
                <a:latin typeface="Nunito"/>
                <a:ea typeface="Nunito"/>
                <a:cs typeface="Nunito"/>
                <a:sym typeface="Nunito"/>
              </a:rPr>
              <a:t> is small. The bank is interested in expanding this base rapidly to bring in more loan business and in the process, earn more through the interest on loans. In particular, the management wants to explore ways of converting its liability customers to personal loan customers (while retaining them as depositors).</a:t>
            </a:r>
            <a:br>
              <a:rPr lang="en" sz="1600">
                <a:latin typeface="Nunito"/>
                <a:ea typeface="Nunito"/>
                <a:cs typeface="Nunito"/>
                <a:sym typeface="Nunito"/>
              </a:rPr>
            </a:br>
            <a:endParaRPr sz="1600">
              <a:latin typeface="Nunito"/>
              <a:ea typeface="Nunito"/>
              <a:cs typeface="Nunito"/>
              <a:sym typeface="Nunito"/>
            </a:endParaRPr>
          </a:p>
          <a:p>
            <a:pPr indent="-330200" lvl="0" marL="457200" rtl="0" algn="l">
              <a:lnSpc>
                <a:spcPct val="115000"/>
              </a:lnSpc>
              <a:spcBef>
                <a:spcPts val="0"/>
              </a:spcBef>
              <a:spcAft>
                <a:spcPts val="0"/>
              </a:spcAft>
              <a:buSzPts val="1600"/>
              <a:buFont typeface="Nunito"/>
              <a:buChar char="●"/>
            </a:pPr>
            <a:r>
              <a:rPr lang="en" sz="1600">
                <a:latin typeface="Nunito"/>
                <a:ea typeface="Nunito"/>
                <a:cs typeface="Nunito"/>
                <a:sym typeface="Nunito"/>
              </a:rPr>
              <a:t>The bank is interested in identifying the potential customers who have a higher probability of purchasing the loan, predict whether a liability customer will buy personal loans, to understand which customer attributes are most significant in driving purchases, and to identify which segment of customers to target more.</a:t>
            </a:r>
            <a:endParaRPr sz="1600">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27fe7260e35_0_1"/>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Business Problem Overview and Solution Approach</a:t>
            </a:r>
            <a:endParaRPr sz="2400">
              <a:solidFill>
                <a:srgbClr val="0E39A9"/>
              </a:solidFill>
            </a:endParaRPr>
          </a:p>
        </p:txBody>
      </p:sp>
      <p:sp>
        <p:nvSpPr>
          <p:cNvPr id="192" name="Google Shape;192;g27fe7260e35_0_1"/>
          <p:cNvSpPr txBox="1"/>
          <p:nvPr/>
        </p:nvSpPr>
        <p:spPr>
          <a:xfrm>
            <a:off x="325250" y="808475"/>
            <a:ext cx="8397900" cy="26481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000"/>
              </a:spcBef>
              <a:spcAft>
                <a:spcPts val="0"/>
              </a:spcAft>
              <a:buSzPts val="1400"/>
              <a:buFont typeface="Nunito"/>
              <a:buChar char="●"/>
            </a:pPr>
            <a:r>
              <a:rPr lang="en">
                <a:latin typeface="Nunito"/>
                <a:ea typeface="Nunito"/>
                <a:cs typeface="Nunito"/>
                <a:sym typeface="Nunito"/>
              </a:rPr>
              <a:t>In order to help the company enhance the customer experience and boost sales and revenue to improve the business, the approach to find the answers can be done by -</a:t>
            </a:r>
            <a:endParaRPr>
              <a:latin typeface="Nunito"/>
              <a:ea typeface="Nunito"/>
              <a:cs typeface="Nunito"/>
              <a:sym typeface="Nunito"/>
            </a:endParaRPr>
          </a:p>
          <a:p>
            <a:pPr indent="-317500" lvl="1" marL="914400" rtl="0" algn="l">
              <a:lnSpc>
                <a:spcPct val="115000"/>
              </a:lnSpc>
              <a:spcBef>
                <a:spcPts val="1000"/>
              </a:spcBef>
              <a:spcAft>
                <a:spcPts val="0"/>
              </a:spcAft>
              <a:buSzPts val="1400"/>
              <a:buFont typeface="Nunito"/>
              <a:buChar char="○"/>
            </a:pPr>
            <a:r>
              <a:rPr lang="en">
                <a:latin typeface="Nunito"/>
                <a:ea typeface="Nunito"/>
                <a:cs typeface="Nunito"/>
                <a:sym typeface="Nunito"/>
              </a:rPr>
              <a:t>Analyzing the data collected to gain key insights about the consumer demand</a:t>
            </a:r>
            <a:endParaRPr>
              <a:latin typeface="Nunito"/>
              <a:ea typeface="Nunito"/>
              <a:cs typeface="Nunito"/>
              <a:sym typeface="Nunito"/>
            </a:endParaRPr>
          </a:p>
          <a:p>
            <a:pPr indent="-317500" lvl="1" marL="914400" rtl="0" algn="l">
              <a:lnSpc>
                <a:spcPct val="115000"/>
              </a:lnSpc>
              <a:spcBef>
                <a:spcPts val="1000"/>
              </a:spcBef>
              <a:spcAft>
                <a:spcPts val="0"/>
              </a:spcAft>
              <a:buSzPts val="1400"/>
              <a:buFont typeface="Nunito"/>
              <a:buChar char="○"/>
            </a:pPr>
            <a:r>
              <a:rPr lang="en">
                <a:latin typeface="Nunito"/>
                <a:ea typeface="Nunito"/>
                <a:cs typeface="Nunito"/>
                <a:sym typeface="Nunito"/>
              </a:rPr>
              <a:t>Performing exploratory data analysis by means of Python visualization and identify areas for growth and improvement.</a:t>
            </a:r>
            <a:endParaRPr>
              <a:latin typeface="Nunito"/>
              <a:ea typeface="Nunito"/>
              <a:cs typeface="Nunito"/>
              <a:sym typeface="Nunito"/>
            </a:endParaRPr>
          </a:p>
          <a:p>
            <a:pPr indent="-317500" lvl="1" marL="914400" rtl="0" algn="l">
              <a:lnSpc>
                <a:spcPct val="115000"/>
              </a:lnSpc>
              <a:spcBef>
                <a:spcPts val="1000"/>
              </a:spcBef>
              <a:spcAft>
                <a:spcPts val="0"/>
              </a:spcAft>
              <a:buSzPts val="1400"/>
              <a:buFont typeface="Nunito"/>
              <a:buChar char="○"/>
            </a:pPr>
            <a:r>
              <a:rPr lang="en">
                <a:latin typeface="Nunito"/>
                <a:ea typeface="Nunito"/>
                <a:cs typeface="Nunito"/>
                <a:sym typeface="Nunito"/>
              </a:rPr>
              <a:t>Using </a:t>
            </a:r>
            <a:r>
              <a:rPr lang="en">
                <a:latin typeface="Nunito"/>
                <a:ea typeface="Nunito"/>
                <a:cs typeface="Nunito"/>
                <a:sym typeface="Nunito"/>
              </a:rPr>
              <a:t>decision</a:t>
            </a:r>
            <a:r>
              <a:rPr lang="en">
                <a:latin typeface="Nunito"/>
                <a:ea typeface="Nunito"/>
                <a:cs typeface="Nunito"/>
                <a:sym typeface="Nunito"/>
              </a:rPr>
              <a:t> trees as means of classification, training the model and </a:t>
            </a:r>
            <a:r>
              <a:rPr lang="en">
                <a:latin typeface="Nunito"/>
                <a:ea typeface="Nunito"/>
                <a:cs typeface="Nunito"/>
                <a:sym typeface="Nunito"/>
              </a:rPr>
              <a:t>improving</a:t>
            </a:r>
            <a:r>
              <a:rPr lang="en">
                <a:latin typeface="Nunito"/>
                <a:ea typeface="Nunito"/>
                <a:cs typeface="Nunito"/>
                <a:sym typeface="Nunito"/>
              </a:rPr>
              <a:t> performance using pruning techniques.</a:t>
            </a:r>
            <a:endParaRPr>
              <a:latin typeface="Nunito"/>
              <a:ea typeface="Nunito"/>
              <a:cs typeface="Nunito"/>
              <a:sym typeface="Nunito"/>
            </a:endParaRPr>
          </a:p>
          <a:p>
            <a:pPr indent="-317500" lvl="1" marL="914400" rtl="0" algn="l">
              <a:lnSpc>
                <a:spcPct val="115000"/>
              </a:lnSpc>
              <a:spcBef>
                <a:spcPts val="1000"/>
              </a:spcBef>
              <a:spcAft>
                <a:spcPts val="0"/>
              </a:spcAft>
              <a:buSzPts val="1400"/>
              <a:buFont typeface="Nunito"/>
              <a:buChar char="○"/>
            </a:pPr>
            <a:r>
              <a:rPr lang="en">
                <a:latin typeface="Nunito"/>
                <a:ea typeface="Nunito"/>
                <a:cs typeface="Nunito"/>
                <a:sym typeface="Nunito"/>
              </a:rPr>
              <a:t>Use the trained model to derive actionable insights for informed decision making.</a:t>
            </a:r>
            <a:endParaRPr>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5"/>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Univariate Analysis - Age</a:t>
            </a:r>
            <a:endParaRPr sz="2400">
              <a:solidFill>
                <a:srgbClr val="0E39A9"/>
              </a:solidFill>
            </a:endParaRPr>
          </a:p>
        </p:txBody>
      </p:sp>
      <p:sp>
        <p:nvSpPr>
          <p:cNvPr id="198" name="Google Shape;198;p5"/>
          <p:cNvSpPr txBox="1"/>
          <p:nvPr/>
        </p:nvSpPr>
        <p:spPr>
          <a:xfrm>
            <a:off x="251313" y="709575"/>
            <a:ext cx="8423100" cy="7224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Average age is about 45 years old. </a:t>
            </a:r>
            <a:endParaRPr sz="1500">
              <a:solidFill>
                <a:schemeClr val="dk2"/>
              </a:solidFill>
              <a:latin typeface="Nunito"/>
              <a:ea typeface="Nunito"/>
              <a:cs typeface="Nunito"/>
              <a:sym typeface="Nunito"/>
            </a:endParaRPr>
          </a:p>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The distribution is uniform.</a:t>
            </a:r>
            <a:endParaRPr sz="1500">
              <a:solidFill>
                <a:schemeClr val="dk2"/>
              </a:solidFill>
              <a:latin typeface="Nunito"/>
              <a:ea typeface="Nunito"/>
              <a:cs typeface="Nunito"/>
              <a:sym typeface="Nunito"/>
            </a:endParaRPr>
          </a:p>
          <a:p>
            <a:pPr indent="0" lvl="0" marL="0" rtl="0" algn="l">
              <a:spcBef>
                <a:spcPts val="0"/>
              </a:spcBef>
              <a:spcAft>
                <a:spcPts val="0"/>
              </a:spcAft>
              <a:buNone/>
            </a:pPr>
            <a:r>
              <a:t/>
            </a:r>
            <a:endParaRPr sz="1500">
              <a:solidFill>
                <a:schemeClr val="dk2"/>
              </a:solidFill>
              <a:latin typeface="Nunito"/>
              <a:ea typeface="Nunito"/>
              <a:cs typeface="Nunito"/>
              <a:sym typeface="Nunito"/>
            </a:endParaRPr>
          </a:p>
        </p:txBody>
      </p:sp>
      <p:pic>
        <p:nvPicPr>
          <p:cNvPr id="199" name="Google Shape;199;p5"/>
          <p:cNvPicPr preferRelativeResize="0"/>
          <p:nvPr/>
        </p:nvPicPr>
        <p:blipFill>
          <a:blip r:embed="rId3">
            <a:alphaModFix/>
          </a:blip>
          <a:stretch>
            <a:fillRect/>
          </a:stretch>
        </p:blipFill>
        <p:spPr>
          <a:xfrm>
            <a:off x="1421324" y="1355200"/>
            <a:ext cx="6301350" cy="37745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27febcf7106_0_10"/>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Univariate Analysis - Experience</a:t>
            </a:r>
            <a:endParaRPr sz="2400">
              <a:solidFill>
                <a:srgbClr val="0E39A9"/>
              </a:solidFill>
            </a:endParaRPr>
          </a:p>
        </p:txBody>
      </p:sp>
      <p:sp>
        <p:nvSpPr>
          <p:cNvPr id="205" name="Google Shape;205;g27febcf7106_0_10"/>
          <p:cNvSpPr txBox="1"/>
          <p:nvPr/>
        </p:nvSpPr>
        <p:spPr>
          <a:xfrm>
            <a:off x="251313" y="709575"/>
            <a:ext cx="8423100" cy="7224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The average Experience is around 20 years. </a:t>
            </a:r>
            <a:endParaRPr sz="1500">
              <a:solidFill>
                <a:schemeClr val="dk2"/>
              </a:solidFill>
              <a:latin typeface="Nunito"/>
              <a:ea typeface="Nunito"/>
              <a:cs typeface="Nunito"/>
              <a:sym typeface="Nunito"/>
            </a:endParaRPr>
          </a:p>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The distribution of is uniform.</a:t>
            </a:r>
            <a:endParaRPr sz="1500">
              <a:solidFill>
                <a:schemeClr val="dk2"/>
              </a:solidFill>
              <a:latin typeface="Nunito"/>
              <a:ea typeface="Nunito"/>
              <a:cs typeface="Nunito"/>
              <a:sym typeface="Nunito"/>
            </a:endParaRPr>
          </a:p>
        </p:txBody>
      </p:sp>
      <p:pic>
        <p:nvPicPr>
          <p:cNvPr id="206" name="Google Shape;206;g27febcf7106_0_10"/>
          <p:cNvPicPr preferRelativeResize="0"/>
          <p:nvPr/>
        </p:nvPicPr>
        <p:blipFill>
          <a:blip r:embed="rId3">
            <a:alphaModFix/>
          </a:blip>
          <a:stretch>
            <a:fillRect/>
          </a:stretch>
        </p:blipFill>
        <p:spPr>
          <a:xfrm>
            <a:off x="1504575" y="1599425"/>
            <a:ext cx="5916601" cy="3544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27febcf7106_0_17"/>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Univariate Analysis - Income</a:t>
            </a:r>
            <a:endParaRPr sz="2400">
              <a:solidFill>
                <a:srgbClr val="0E39A9"/>
              </a:solidFill>
            </a:endParaRPr>
          </a:p>
        </p:txBody>
      </p:sp>
      <p:sp>
        <p:nvSpPr>
          <p:cNvPr id="212" name="Google Shape;212;g27febcf7106_0_17"/>
          <p:cNvSpPr txBox="1"/>
          <p:nvPr/>
        </p:nvSpPr>
        <p:spPr>
          <a:xfrm>
            <a:off x="251313" y="709575"/>
            <a:ext cx="8423100" cy="7224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Income has many outliers that have high incomes. </a:t>
            </a:r>
            <a:endParaRPr sz="1500">
              <a:solidFill>
                <a:schemeClr val="dk2"/>
              </a:solidFill>
              <a:latin typeface="Nunito"/>
              <a:ea typeface="Nunito"/>
              <a:cs typeface="Nunito"/>
              <a:sym typeface="Nunito"/>
            </a:endParaRPr>
          </a:p>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Average income is around 60K. </a:t>
            </a:r>
            <a:endParaRPr sz="1500">
              <a:solidFill>
                <a:schemeClr val="dk2"/>
              </a:solidFill>
              <a:latin typeface="Nunito"/>
              <a:ea typeface="Nunito"/>
              <a:cs typeface="Nunito"/>
              <a:sym typeface="Nunito"/>
            </a:endParaRPr>
          </a:p>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The distribution is right skewed.</a:t>
            </a:r>
            <a:endParaRPr sz="1500">
              <a:solidFill>
                <a:schemeClr val="dk2"/>
              </a:solidFill>
              <a:latin typeface="Nunito"/>
              <a:ea typeface="Nunito"/>
              <a:cs typeface="Nunito"/>
              <a:sym typeface="Nunito"/>
            </a:endParaRPr>
          </a:p>
          <a:p>
            <a:pPr indent="0" lvl="0" marL="0" rtl="0" algn="l">
              <a:spcBef>
                <a:spcPts val="0"/>
              </a:spcBef>
              <a:spcAft>
                <a:spcPts val="0"/>
              </a:spcAft>
              <a:buNone/>
            </a:pPr>
            <a:r>
              <a:t/>
            </a:r>
            <a:endParaRPr sz="1500">
              <a:solidFill>
                <a:schemeClr val="dk2"/>
              </a:solidFill>
              <a:latin typeface="Nunito"/>
              <a:ea typeface="Nunito"/>
              <a:cs typeface="Nunito"/>
              <a:sym typeface="Nunito"/>
            </a:endParaRPr>
          </a:p>
        </p:txBody>
      </p:sp>
      <p:pic>
        <p:nvPicPr>
          <p:cNvPr id="213" name="Google Shape;213;g27febcf7106_0_17"/>
          <p:cNvPicPr preferRelativeResize="0"/>
          <p:nvPr/>
        </p:nvPicPr>
        <p:blipFill>
          <a:blip r:embed="rId3">
            <a:alphaModFix/>
          </a:blip>
          <a:stretch>
            <a:fillRect/>
          </a:stretch>
        </p:blipFill>
        <p:spPr>
          <a:xfrm>
            <a:off x="1728350" y="1743100"/>
            <a:ext cx="5687308" cy="34067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27febcf7106_0_29"/>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Univariate Analysis - CCAvg </a:t>
            </a:r>
            <a:endParaRPr sz="2400">
              <a:solidFill>
                <a:srgbClr val="0E39A9"/>
              </a:solidFill>
            </a:endParaRPr>
          </a:p>
        </p:txBody>
      </p:sp>
      <p:sp>
        <p:nvSpPr>
          <p:cNvPr id="219" name="Google Shape;219;g27febcf7106_0_29"/>
          <p:cNvSpPr txBox="1"/>
          <p:nvPr/>
        </p:nvSpPr>
        <p:spPr>
          <a:xfrm>
            <a:off x="251313" y="709575"/>
            <a:ext cx="8423100" cy="722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latin typeface="Nunito"/>
                <a:ea typeface="Nunito"/>
                <a:cs typeface="Nunito"/>
                <a:sym typeface="Nunito"/>
              </a:rPr>
              <a:t>CCAvg has</a:t>
            </a:r>
            <a:r>
              <a:rPr lang="en"/>
              <a:t> </a:t>
            </a:r>
            <a:r>
              <a:rPr lang="en" sz="1500">
                <a:solidFill>
                  <a:schemeClr val="dk2"/>
                </a:solidFill>
                <a:latin typeface="Nunito"/>
                <a:ea typeface="Nunito"/>
                <a:cs typeface="Nunito"/>
                <a:sym typeface="Nunito"/>
              </a:rPr>
              <a:t>many outliers</a:t>
            </a:r>
            <a:endParaRPr sz="1500">
              <a:solidFill>
                <a:schemeClr val="dk2"/>
              </a:solidFill>
              <a:latin typeface="Nunito"/>
              <a:ea typeface="Nunito"/>
              <a:cs typeface="Nunito"/>
              <a:sym typeface="Nunito"/>
            </a:endParaRPr>
          </a:p>
          <a:p>
            <a:pPr indent="-317500" lvl="0" marL="457200" rtl="0" algn="l">
              <a:spcBef>
                <a:spcPts val="0"/>
              </a:spcBef>
              <a:spcAft>
                <a:spcPts val="0"/>
              </a:spcAft>
              <a:buSzPts val="1400"/>
              <a:buChar char="●"/>
            </a:pPr>
            <a:r>
              <a:rPr lang="en" sz="1500">
                <a:solidFill>
                  <a:schemeClr val="dk2"/>
                </a:solidFill>
                <a:latin typeface="Nunito"/>
                <a:ea typeface="Nunito"/>
                <a:cs typeface="Nunito"/>
                <a:sym typeface="Nunito"/>
              </a:rPr>
              <a:t>There are high number of customers with 0 credit card usage value.</a:t>
            </a:r>
            <a:endParaRPr sz="1500">
              <a:solidFill>
                <a:schemeClr val="dk2"/>
              </a:solidFill>
              <a:latin typeface="Nunito"/>
              <a:ea typeface="Nunito"/>
              <a:cs typeface="Nunito"/>
              <a:sym typeface="Nunito"/>
            </a:endParaRPr>
          </a:p>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The distribution is right skewed.</a:t>
            </a:r>
            <a:endParaRPr sz="1500">
              <a:solidFill>
                <a:schemeClr val="dk2"/>
              </a:solidFill>
              <a:latin typeface="Nunito"/>
              <a:ea typeface="Nunito"/>
              <a:cs typeface="Nunito"/>
              <a:sym typeface="Nunito"/>
            </a:endParaRPr>
          </a:p>
          <a:p>
            <a:pPr indent="0" lvl="0" marL="0" rtl="0" algn="l">
              <a:spcBef>
                <a:spcPts val="0"/>
              </a:spcBef>
              <a:spcAft>
                <a:spcPts val="0"/>
              </a:spcAft>
              <a:buNone/>
            </a:pPr>
            <a:r>
              <a:t/>
            </a:r>
            <a:endParaRPr sz="1500">
              <a:solidFill>
                <a:schemeClr val="dk2"/>
              </a:solidFill>
              <a:latin typeface="Nunito"/>
              <a:ea typeface="Nunito"/>
              <a:cs typeface="Nunito"/>
              <a:sym typeface="Nunito"/>
            </a:endParaRPr>
          </a:p>
        </p:txBody>
      </p:sp>
      <p:pic>
        <p:nvPicPr>
          <p:cNvPr id="220" name="Google Shape;220;g27febcf7106_0_29"/>
          <p:cNvPicPr preferRelativeResize="0"/>
          <p:nvPr/>
        </p:nvPicPr>
        <p:blipFill>
          <a:blip r:embed="rId3">
            <a:alphaModFix/>
          </a:blip>
          <a:stretch>
            <a:fillRect/>
          </a:stretch>
        </p:blipFill>
        <p:spPr>
          <a:xfrm>
            <a:off x="1273625" y="1535200"/>
            <a:ext cx="6032899" cy="3613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27febcf7106_0_38"/>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Univariate Analysis - Mortgage</a:t>
            </a:r>
            <a:endParaRPr sz="2400">
              <a:solidFill>
                <a:srgbClr val="0E39A9"/>
              </a:solidFill>
            </a:endParaRPr>
          </a:p>
        </p:txBody>
      </p:sp>
      <p:sp>
        <p:nvSpPr>
          <p:cNvPr id="226" name="Google Shape;226;g27febcf7106_0_38"/>
          <p:cNvSpPr txBox="1"/>
          <p:nvPr/>
        </p:nvSpPr>
        <p:spPr>
          <a:xfrm>
            <a:off x="251313" y="709575"/>
            <a:ext cx="8423100" cy="722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latin typeface="Nunito"/>
                <a:ea typeface="Nunito"/>
                <a:cs typeface="Nunito"/>
                <a:sym typeface="Nunito"/>
              </a:rPr>
              <a:t>Mortgage </a:t>
            </a:r>
            <a:r>
              <a:rPr lang="en">
                <a:latin typeface="Nunito"/>
                <a:ea typeface="Nunito"/>
                <a:cs typeface="Nunito"/>
                <a:sym typeface="Nunito"/>
              </a:rPr>
              <a:t>has</a:t>
            </a:r>
            <a:r>
              <a:rPr lang="en"/>
              <a:t> </a:t>
            </a:r>
            <a:r>
              <a:rPr lang="en" sz="1500">
                <a:solidFill>
                  <a:schemeClr val="dk2"/>
                </a:solidFill>
                <a:latin typeface="Nunito"/>
                <a:ea typeface="Nunito"/>
                <a:cs typeface="Nunito"/>
                <a:sym typeface="Nunito"/>
              </a:rPr>
              <a:t>many outliers. </a:t>
            </a:r>
            <a:endParaRPr sz="1500">
              <a:solidFill>
                <a:schemeClr val="dk2"/>
              </a:solidFill>
              <a:latin typeface="Nunito"/>
              <a:ea typeface="Nunito"/>
              <a:cs typeface="Nunito"/>
              <a:sym typeface="Nunito"/>
            </a:endParaRPr>
          </a:p>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There are many mortgages that have value of 0.</a:t>
            </a:r>
            <a:endParaRPr sz="1500">
              <a:solidFill>
                <a:schemeClr val="dk2"/>
              </a:solidFill>
              <a:latin typeface="Nunito"/>
              <a:ea typeface="Nunito"/>
              <a:cs typeface="Nunito"/>
              <a:sym typeface="Nunito"/>
            </a:endParaRPr>
          </a:p>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The distribution is right skewed.</a:t>
            </a:r>
            <a:endParaRPr sz="1500">
              <a:solidFill>
                <a:schemeClr val="dk2"/>
              </a:solidFill>
              <a:latin typeface="Nunito"/>
              <a:ea typeface="Nunito"/>
              <a:cs typeface="Nunito"/>
              <a:sym typeface="Nunito"/>
            </a:endParaRPr>
          </a:p>
          <a:p>
            <a:pPr indent="0" lvl="0" marL="0" rtl="0" algn="l">
              <a:spcBef>
                <a:spcPts val="0"/>
              </a:spcBef>
              <a:spcAft>
                <a:spcPts val="0"/>
              </a:spcAft>
              <a:buNone/>
            </a:pPr>
            <a:r>
              <a:t/>
            </a:r>
            <a:endParaRPr sz="1500">
              <a:solidFill>
                <a:schemeClr val="dk2"/>
              </a:solidFill>
              <a:latin typeface="Nunito"/>
              <a:ea typeface="Nunito"/>
              <a:cs typeface="Nunito"/>
              <a:sym typeface="Nunito"/>
            </a:endParaRPr>
          </a:p>
        </p:txBody>
      </p:sp>
      <p:pic>
        <p:nvPicPr>
          <p:cNvPr id="227" name="Google Shape;227;g27febcf7106_0_38"/>
          <p:cNvPicPr preferRelativeResize="0"/>
          <p:nvPr/>
        </p:nvPicPr>
        <p:blipFill>
          <a:blip r:embed="rId3">
            <a:alphaModFix/>
          </a:blip>
          <a:stretch>
            <a:fillRect/>
          </a:stretch>
        </p:blipFill>
        <p:spPr>
          <a:xfrm>
            <a:off x="1198612" y="1508175"/>
            <a:ext cx="6242514" cy="3706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27febcf7106_0_59"/>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Univariate Analysis - Family</a:t>
            </a:r>
            <a:endParaRPr sz="2400">
              <a:solidFill>
                <a:srgbClr val="0E39A9"/>
              </a:solidFill>
            </a:endParaRPr>
          </a:p>
        </p:txBody>
      </p:sp>
      <p:sp>
        <p:nvSpPr>
          <p:cNvPr id="233" name="Google Shape;233;g27febcf7106_0_59"/>
          <p:cNvSpPr txBox="1"/>
          <p:nvPr/>
        </p:nvSpPr>
        <p:spPr>
          <a:xfrm>
            <a:off x="251313" y="709575"/>
            <a:ext cx="8423100" cy="7224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2"/>
              </a:buClr>
              <a:buSzPts val="1500"/>
              <a:buFont typeface="Nunito"/>
              <a:buChar char="●"/>
            </a:pPr>
            <a:r>
              <a:rPr lang="en">
                <a:latin typeface="Nunito"/>
                <a:ea typeface="Nunito"/>
                <a:cs typeface="Nunito"/>
                <a:sym typeface="Nunito"/>
              </a:rPr>
              <a:t>There are higher number of customers with family of 1 followed by 4, 2 and 3</a:t>
            </a:r>
            <a:r>
              <a:rPr lang="en" sz="1500">
                <a:solidFill>
                  <a:schemeClr val="dk2"/>
                </a:solidFill>
                <a:latin typeface="Nunito"/>
                <a:ea typeface="Nunito"/>
                <a:cs typeface="Nunito"/>
                <a:sym typeface="Nunito"/>
              </a:rPr>
              <a:t>.</a:t>
            </a:r>
            <a:endParaRPr sz="1500">
              <a:solidFill>
                <a:schemeClr val="dk2"/>
              </a:solidFill>
              <a:latin typeface="Nunito"/>
              <a:ea typeface="Nunito"/>
              <a:cs typeface="Nunito"/>
              <a:sym typeface="Nunito"/>
            </a:endParaRPr>
          </a:p>
          <a:p>
            <a:pPr indent="0" lvl="0" marL="0" rtl="0" algn="l">
              <a:spcBef>
                <a:spcPts val="0"/>
              </a:spcBef>
              <a:spcAft>
                <a:spcPts val="0"/>
              </a:spcAft>
              <a:buNone/>
            </a:pPr>
            <a:r>
              <a:t/>
            </a:r>
            <a:endParaRPr sz="1500">
              <a:solidFill>
                <a:schemeClr val="dk2"/>
              </a:solidFill>
              <a:latin typeface="Nunito"/>
              <a:ea typeface="Nunito"/>
              <a:cs typeface="Nunito"/>
              <a:sym typeface="Nunito"/>
            </a:endParaRPr>
          </a:p>
        </p:txBody>
      </p:sp>
      <p:pic>
        <p:nvPicPr>
          <p:cNvPr id="234" name="Google Shape;234;g27febcf7106_0_59"/>
          <p:cNvPicPr preferRelativeResize="0"/>
          <p:nvPr/>
        </p:nvPicPr>
        <p:blipFill>
          <a:blip r:embed="rId3">
            <a:alphaModFix/>
          </a:blip>
          <a:stretch>
            <a:fillRect/>
          </a:stretch>
        </p:blipFill>
        <p:spPr>
          <a:xfrm>
            <a:off x="2315050" y="1197250"/>
            <a:ext cx="4158100" cy="3946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22043722798_0_0"/>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Univariate Analysis - Education</a:t>
            </a:r>
            <a:endParaRPr sz="2400">
              <a:solidFill>
                <a:srgbClr val="0E39A9"/>
              </a:solidFill>
            </a:endParaRPr>
          </a:p>
        </p:txBody>
      </p:sp>
      <p:sp>
        <p:nvSpPr>
          <p:cNvPr id="240" name="Google Shape;240;g22043722798_0_0"/>
          <p:cNvSpPr txBox="1"/>
          <p:nvPr/>
        </p:nvSpPr>
        <p:spPr>
          <a:xfrm>
            <a:off x="251313" y="709575"/>
            <a:ext cx="8423100" cy="722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There are a larger number of customers with Education ‘1’ as compared to ‘2’ and ‘3’.</a:t>
            </a:r>
            <a:endParaRPr sz="1500">
              <a:solidFill>
                <a:schemeClr val="dk2"/>
              </a:solidFill>
              <a:latin typeface="Nunito"/>
              <a:ea typeface="Nunito"/>
              <a:cs typeface="Nunito"/>
              <a:sym typeface="Nunito"/>
            </a:endParaRPr>
          </a:p>
        </p:txBody>
      </p:sp>
      <p:pic>
        <p:nvPicPr>
          <p:cNvPr id="241" name="Google Shape;241;g22043722798_0_0"/>
          <p:cNvPicPr preferRelativeResize="0"/>
          <p:nvPr/>
        </p:nvPicPr>
        <p:blipFill>
          <a:blip r:embed="rId3">
            <a:alphaModFix/>
          </a:blip>
          <a:stretch>
            <a:fillRect/>
          </a:stretch>
        </p:blipFill>
        <p:spPr>
          <a:xfrm>
            <a:off x="2513951" y="1086825"/>
            <a:ext cx="3559450" cy="40382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22043722798_0_7"/>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Univariate Analysis - Securities Account</a:t>
            </a:r>
            <a:endParaRPr sz="2400">
              <a:solidFill>
                <a:srgbClr val="0E39A9"/>
              </a:solidFill>
            </a:endParaRPr>
          </a:p>
        </p:txBody>
      </p:sp>
      <p:sp>
        <p:nvSpPr>
          <p:cNvPr id="247" name="Google Shape;247;g22043722798_0_7"/>
          <p:cNvSpPr txBox="1"/>
          <p:nvPr/>
        </p:nvSpPr>
        <p:spPr>
          <a:xfrm>
            <a:off x="251313" y="709575"/>
            <a:ext cx="8423100" cy="722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There are a large number of customers without securities account.</a:t>
            </a:r>
            <a:endParaRPr sz="1500">
              <a:solidFill>
                <a:schemeClr val="dk2"/>
              </a:solidFill>
              <a:latin typeface="Nunito"/>
              <a:ea typeface="Nunito"/>
              <a:cs typeface="Nunito"/>
              <a:sym typeface="Nunito"/>
            </a:endParaRPr>
          </a:p>
        </p:txBody>
      </p:sp>
      <p:pic>
        <p:nvPicPr>
          <p:cNvPr id="248" name="Google Shape;248;g22043722798_0_7"/>
          <p:cNvPicPr preferRelativeResize="0"/>
          <p:nvPr/>
        </p:nvPicPr>
        <p:blipFill>
          <a:blip r:embed="rId3">
            <a:alphaModFix/>
          </a:blip>
          <a:stretch>
            <a:fillRect/>
          </a:stretch>
        </p:blipFill>
        <p:spPr>
          <a:xfrm>
            <a:off x="2779650" y="1308775"/>
            <a:ext cx="2671850" cy="3565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22043722798_0_14"/>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Univariate Analysis - CD Account</a:t>
            </a:r>
            <a:endParaRPr sz="2400">
              <a:solidFill>
                <a:srgbClr val="0E39A9"/>
              </a:solidFill>
            </a:endParaRPr>
          </a:p>
        </p:txBody>
      </p:sp>
      <p:sp>
        <p:nvSpPr>
          <p:cNvPr id="254" name="Google Shape;254;g22043722798_0_14"/>
          <p:cNvSpPr txBox="1"/>
          <p:nvPr/>
        </p:nvSpPr>
        <p:spPr>
          <a:xfrm>
            <a:off x="251313" y="709575"/>
            <a:ext cx="8423100" cy="722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There are a large number of customers without CD account.</a:t>
            </a:r>
            <a:endParaRPr sz="1500">
              <a:solidFill>
                <a:schemeClr val="dk2"/>
              </a:solidFill>
              <a:latin typeface="Nunito"/>
              <a:ea typeface="Nunito"/>
              <a:cs typeface="Nunito"/>
              <a:sym typeface="Nunito"/>
            </a:endParaRPr>
          </a:p>
        </p:txBody>
      </p:sp>
      <p:pic>
        <p:nvPicPr>
          <p:cNvPr id="255" name="Google Shape;255;g22043722798_0_14"/>
          <p:cNvPicPr preferRelativeResize="0"/>
          <p:nvPr/>
        </p:nvPicPr>
        <p:blipFill>
          <a:blip r:embed="rId3">
            <a:alphaModFix/>
          </a:blip>
          <a:stretch>
            <a:fillRect/>
          </a:stretch>
        </p:blipFill>
        <p:spPr>
          <a:xfrm>
            <a:off x="2922300" y="1333450"/>
            <a:ext cx="2560000" cy="36212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22043722798_0_21"/>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Univariate Analysis - Online</a:t>
            </a:r>
            <a:endParaRPr sz="2400">
              <a:solidFill>
                <a:srgbClr val="0E39A9"/>
              </a:solidFill>
            </a:endParaRPr>
          </a:p>
        </p:txBody>
      </p:sp>
      <p:sp>
        <p:nvSpPr>
          <p:cNvPr id="261" name="Google Shape;261;g22043722798_0_21"/>
          <p:cNvSpPr txBox="1"/>
          <p:nvPr/>
        </p:nvSpPr>
        <p:spPr>
          <a:xfrm>
            <a:off x="251313" y="709575"/>
            <a:ext cx="8423100" cy="722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There are higher number of customers without that have online accounts.</a:t>
            </a:r>
            <a:endParaRPr sz="1500">
              <a:solidFill>
                <a:schemeClr val="dk2"/>
              </a:solidFill>
              <a:latin typeface="Nunito"/>
              <a:ea typeface="Nunito"/>
              <a:cs typeface="Nunito"/>
              <a:sym typeface="Nunito"/>
            </a:endParaRPr>
          </a:p>
        </p:txBody>
      </p:sp>
      <p:pic>
        <p:nvPicPr>
          <p:cNvPr id="262" name="Google Shape;262;g22043722798_0_21"/>
          <p:cNvPicPr preferRelativeResize="0"/>
          <p:nvPr/>
        </p:nvPicPr>
        <p:blipFill>
          <a:blip r:embed="rId3">
            <a:alphaModFix/>
          </a:blip>
          <a:stretch>
            <a:fillRect/>
          </a:stretch>
        </p:blipFill>
        <p:spPr>
          <a:xfrm>
            <a:off x="2964449" y="1212775"/>
            <a:ext cx="2702550" cy="38229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22043722798_0_28"/>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Univariate Analysis -  Credit Card</a:t>
            </a:r>
            <a:endParaRPr sz="2400">
              <a:solidFill>
                <a:srgbClr val="0E39A9"/>
              </a:solidFill>
            </a:endParaRPr>
          </a:p>
        </p:txBody>
      </p:sp>
      <p:sp>
        <p:nvSpPr>
          <p:cNvPr id="268" name="Google Shape;268;g22043722798_0_28"/>
          <p:cNvSpPr txBox="1"/>
          <p:nvPr/>
        </p:nvSpPr>
        <p:spPr>
          <a:xfrm>
            <a:off x="251313" y="709575"/>
            <a:ext cx="8423100" cy="722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There are higher number of customers without Credit Cards.</a:t>
            </a:r>
            <a:endParaRPr sz="1500">
              <a:solidFill>
                <a:schemeClr val="dk2"/>
              </a:solidFill>
              <a:latin typeface="Nunito"/>
              <a:ea typeface="Nunito"/>
              <a:cs typeface="Nunito"/>
              <a:sym typeface="Nunito"/>
            </a:endParaRPr>
          </a:p>
        </p:txBody>
      </p:sp>
      <p:pic>
        <p:nvPicPr>
          <p:cNvPr id="269" name="Google Shape;269;g22043722798_0_28"/>
          <p:cNvPicPr preferRelativeResize="0"/>
          <p:nvPr/>
        </p:nvPicPr>
        <p:blipFill>
          <a:blip r:embed="rId3">
            <a:alphaModFix/>
          </a:blip>
          <a:stretch>
            <a:fillRect/>
          </a:stretch>
        </p:blipFill>
        <p:spPr>
          <a:xfrm>
            <a:off x="3302826" y="1333275"/>
            <a:ext cx="2690750" cy="3806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22043722798_0_35"/>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Univariate Analysis -  Zipcode</a:t>
            </a:r>
            <a:endParaRPr sz="2400">
              <a:solidFill>
                <a:srgbClr val="0E39A9"/>
              </a:solidFill>
            </a:endParaRPr>
          </a:p>
        </p:txBody>
      </p:sp>
      <p:sp>
        <p:nvSpPr>
          <p:cNvPr id="275" name="Google Shape;275;g22043722798_0_35"/>
          <p:cNvSpPr txBox="1"/>
          <p:nvPr/>
        </p:nvSpPr>
        <p:spPr>
          <a:xfrm>
            <a:off x="251313" y="709575"/>
            <a:ext cx="8423100" cy="722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There are higher number of customers in 94 </a:t>
            </a:r>
            <a:r>
              <a:rPr lang="en">
                <a:latin typeface="Nunito"/>
                <a:ea typeface="Nunito"/>
                <a:cs typeface="Nunito"/>
                <a:sym typeface="Nunito"/>
              </a:rPr>
              <a:t>Zip Codes</a:t>
            </a:r>
            <a:r>
              <a:rPr lang="en">
                <a:latin typeface="Nunito"/>
                <a:ea typeface="Nunito"/>
                <a:cs typeface="Nunito"/>
                <a:sym typeface="Nunito"/>
              </a:rPr>
              <a:t>.</a:t>
            </a:r>
            <a:endParaRPr sz="1500">
              <a:solidFill>
                <a:schemeClr val="dk2"/>
              </a:solidFill>
              <a:latin typeface="Nunito"/>
              <a:ea typeface="Nunito"/>
              <a:cs typeface="Nunito"/>
              <a:sym typeface="Nunito"/>
            </a:endParaRPr>
          </a:p>
        </p:txBody>
      </p:sp>
      <p:pic>
        <p:nvPicPr>
          <p:cNvPr id="276" name="Google Shape;276;g22043722798_0_35"/>
          <p:cNvPicPr preferRelativeResize="0"/>
          <p:nvPr/>
        </p:nvPicPr>
        <p:blipFill>
          <a:blip r:embed="rId3">
            <a:alphaModFix/>
          </a:blip>
          <a:stretch>
            <a:fillRect/>
          </a:stretch>
        </p:blipFill>
        <p:spPr>
          <a:xfrm>
            <a:off x="1396475" y="1301475"/>
            <a:ext cx="5885326" cy="3853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22043722798_0_42"/>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Bivariate Analysis -  Heatmap</a:t>
            </a:r>
            <a:endParaRPr sz="2400">
              <a:solidFill>
                <a:srgbClr val="0E39A9"/>
              </a:solidFill>
            </a:endParaRPr>
          </a:p>
        </p:txBody>
      </p:sp>
      <p:sp>
        <p:nvSpPr>
          <p:cNvPr id="282" name="Google Shape;282;g22043722798_0_42"/>
          <p:cNvSpPr txBox="1"/>
          <p:nvPr/>
        </p:nvSpPr>
        <p:spPr>
          <a:xfrm>
            <a:off x="251313" y="709575"/>
            <a:ext cx="8423100" cy="722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There is a strong correlation </a:t>
            </a:r>
            <a:r>
              <a:rPr lang="en">
                <a:latin typeface="Nunito"/>
                <a:ea typeface="Nunito"/>
                <a:cs typeface="Nunito"/>
                <a:sym typeface="Nunito"/>
              </a:rPr>
              <a:t>between age and experience.</a:t>
            </a:r>
            <a:endParaRPr>
              <a:latin typeface="Nunito"/>
              <a:ea typeface="Nunito"/>
              <a:cs typeface="Nunito"/>
              <a:sym typeface="Nunito"/>
            </a:endParaRPr>
          </a:p>
          <a:p>
            <a:pPr indent="-317500" lvl="0" marL="457200" rtl="0" algn="l">
              <a:spcBef>
                <a:spcPts val="0"/>
              </a:spcBef>
              <a:spcAft>
                <a:spcPts val="0"/>
              </a:spcAft>
              <a:buSzPts val="1400"/>
              <a:buFont typeface="Nunito"/>
              <a:buChar char="●"/>
            </a:pPr>
            <a:r>
              <a:rPr lang="en">
                <a:latin typeface="Nunito"/>
                <a:ea typeface="Nunito"/>
                <a:cs typeface="Nunito"/>
                <a:sym typeface="Nunito"/>
              </a:rPr>
              <a:t>Credit card usage and income are highly correlated with each other.</a:t>
            </a:r>
            <a:endParaRPr>
              <a:latin typeface="Nunito"/>
              <a:ea typeface="Nunito"/>
              <a:cs typeface="Nunito"/>
              <a:sym typeface="Nunito"/>
            </a:endParaRPr>
          </a:p>
        </p:txBody>
      </p:sp>
      <p:pic>
        <p:nvPicPr>
          <p:cNvPr id="283" name="Google Shape;283;g22043722798_0_42"/>
          <p:cNvPicPr preferRelativeResize="0"/>
          <p:nvPr/>
        </p:nvPicPr>
        <p:blipFill>
          <a:blip r:embed="rId3">
            <a:alphaModFix/>
          </a:blip>
          <a:stretch>
            <a:fillRect/>
          </a:stretch>
        </p:blipFill>
        <p:spPr>
          <a:xfrm>
            <a:off x="1355236" y="1431975"/>
            <a:ext cx="6464889" cy="3711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28134c4af0e_0_0"/>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Bivariate Analysis - PairPlot</a:t>
            </a:r>
            <a:endParaRPr sz="2400">
              <a:solidFill>
                <a:srgbClr val="0E39A9"/>
              </a:solidFill>
            </a:endParaRPr>
          </a:p>
        </p:txBody>
      </p:sp>
      <p:sp>
        <p:nvSpPr>
          <p:cNvPr id="289" name="Google Shape;289;g28134c4af0e_0_0"/>
          <p:cNvSpPr txBox="1"/>
          <p:nvPr/>
        </p:nvSpPr>
        <p:spPr>
          <a:xfrm>
            <a:off x="341250" y="680975"/>
            <a:ext cx="84615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Customers with personal loans </a:t>
            </a:r>
            <a:r>
              <a:rPr lang="en">
                <a:latin typeface="Nunito"/>
                <a:ea typeface="Nunito"/>
                <a:cs typeface="Nunito"/>
                <a:sym typeface="Nunito"/>
              </a:rPr>
              <a:t>have</a:t>
            </a:r>
            <a:r>
              <a:rPr lang="en">
                <a:latin typeface="Nunito"/>
                <a:ea typeface="Nunito"/>
                <a:cs typeface="Nunito"/>
                <a:sym typeface="Nunito"/>
              </a:rPr>
              <a:t> higher income.</a:t>
            </a:r>
            <a:endParaRPr>
              <a:latin typeface="Nunito"/>
              <a:ea typeface="Nunito"/>
              <a:cs typeface="Nunito"/>
              <a:sym typeface="Nunito"/>
            </a:endParaRPr>
          </a:p>
        </p:txBody>
      </p:sp>
      <p:pic>
        <p:nvPicPr>
          <p:cNvPr id="290" name="Google Shape;290;g28134c4af0e_0_0"/>
          <p:cNvPicPr preferRelativeResize="0"/>
          <p:nvPr/>
        </p:nvPicPr>
        <p:blipFill>
          <a:blip r:embed="rId3">
            <a:alphaModFix/>
          </a:blip>
          <a:stretch>
            <a:fillRect/>
          </a:stretch>
        </p:blipFill>
        <p:spPr>
          <a:xfrm>
            <a:off x="2326125" y="1081175"/>
            <a:ext cx="4392200" cy="405182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22043722798_0_50"/>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Bivariate Analysis </a:t>
            </a:r>
            <a:endParaRPr sz="2400">
              <a:solidFill>
                <a:srgbClr val="0E39A9"/>
              </a:solidFill>
            </a:endParaRPr>
          </a:p>
        </p:txBody>
      </p:sp>
      <p:pic>
        <p:nvPicPr>
          <p:cNvPr id="296" name="Google Shape;296;g22043722798_0_50"/>
          <p:cNvPicPr preferRelativeResize="0"/>
          <p:nvPr/>
        </p:nvPicPr>
        <p:blipFill>
          <a:blip r:embed="rId3">
            <a:alphaModFix/>
          </a:blip>
          <a:stretch>
            <a:fillRect/>
          </a:stretch>
        </p:blipFill>
        <p:spPr>
          <a:xfrm>
            <a:off x="338350" y="2330050"/>
            <a:ext cx="4239801" cy="2813450"/>
          </a:xfrm>
          <a:prstGeom prst="rect">
            <a:avLst/>
          </a:prstGeom>
          <a:noFill/>
          <a:ln>
            <a:noFill/>
          </a:ln>
        </p:spPr>
      </p:pic>
      <p:pic>
        <p:nvPicPr>
          <p:cNvPr id="297" name="Google Shape;297;g22043722798_0_50"/>
          <p:cNvPicPr preferRelativeResize="0"/>
          <p:nvPr/>
        </p:nvPicPr>
        <p:blipFill>
          <a:blip r:embed="rId4">
            <a:alphaModFix/>
          </a:blip>
          <a:stretch>
            <a:fillRect/>
          </a:stretch>
        </p:blipFill>
        <p:spPr>
          <a:xfrm>
            <a:off x="4408225" y="2330050"/>
            <a:ext cx="4688526" cy="2813450"/>
          </a:xfrm>
          <a:prstGeom prst="rect">
            <a:avLst/>
          </a:prstGeom>
          <a:noFill/>
          <a:ln>
            <a:noFill/>
          </a:ln>
        </p:spPr>
      </p:pic>
      <p:sp>
        <p:nvSpPr>
          <p:cNvPr id="298" name="Google Shape;298;g22043722798_0_50"/>
          <p:cNvSpPr txBox="1"/>
          <p:nvPr/>
        </p:nvSpPr>
        <p:spPr>
          <a:xfrm>
            <a:off x="4730150" y="1070925"/>
            <a:ext cx="4239900" cy="1046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Those customers with a family of 3 have a higher percentage of personal loans than the other families followed by family of 4, 2 and 1 respectively.</a:t>
            </a:r>
            <a:endParaRPr>
              <a:latin typeface="Nunito"/>
              <a:ea typeface="Nunito"/>
              <a:cs typeface="Nunito"/>
              <a:sym typeface="Nunito"/>
            </a:endParaRPr>
          </a:p>
        </p:txBody>
      </p:sp>
      <p:sp>
        <p:nvSpPr>
          <p:cNvPr id="299" name="Google Shape;299;g22043722798_0_50"/>
          <p:cNvSpPr txBox="1"/>
          <p:nvPr/>
        </p:nvSpPr>
        <p:spPr>
          <a:xfrm>
            <a:off x="261650" y="1070925"/>
            <a:ext cx="43932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Those customers with an education of '2' and '3' have higher percentage of personal loans that those with education of '1'.</a:t>
            </a:r>
            <a:endParaRPr>
              <a:latin typeface="Nunito"/>
              <a:ea typeface="Nunito"/>
              <a:cs typeface="Nunito"/>
              <a:sym typeface="Nuni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22043722798_0_71"/>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Bivariate Analysis </a:t>
            </a:r>
            <a:endParaRPr sz="2400">
              <a:solidFill>
                <a:srgbClr val="0E39A9"/>
              </a:solidFill>
            </a:endParaRPr>
          </a:p>
        </p:txBody>
      </p:sp>
      <p:sp>
        <p:nvSpPr>
          <p:cNvPr id="305" name="Google Shape;305;g22043722798_0_71"/>
          <p:cNvSpPr txBox="1"/>
          <p:nvPr/>
        </p:nvSpPr>
        <p:spPr>
          <a:xfrm>
            <a:off x="4777425" y="921600"/>
            <a:ext cx="4239900" cy="1046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Customers who have CD account also have higher number of personal loans as compared to the customers who don’t have CD account.</a:t>
            </a:r>
            <a:endParaRPr>
              <a:latin typeface="Nunito"/>
              <a:ea typeface="Nunito"/>
              <a:cs typeface="Nunito"/>
              <a:sym typeface="Nunito"/>
            </a:endParaRPr>
          </a:p>
        </p:txBody>
      </p:sp>
      <p:sp>
        <p:nvSpPr>
          <p:cNvPr id="306" name="Google Shape;306;g22043722798_0_71"/>
          <p:cNvSpPr txBox="1"/>
          <p:nvPr/>
        </p:nvSpPr>
        <p:spPr>
          <a:xfrm>
            <a:off x="293100" y="921600"/>
            <a:ext cx="43932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Having a </a:t>
            </a:r>
            <a:r>
              <a:rPr lang="en">
                <a:latin typeface="Nunito"/>
                <a:ea typeface="Nunito"/>
                <a:cs typeface="Nunito"/>
                <a:sym typeface="Nunito"/>
              </a:rPr>
              <a:t>Securities</a:t>
            </a:r>
            <a:r>
              <a:rPr lang="en">
                <a:latin typeface="Nunito"/>
                <a:ea typeface="Nunito"/>
                <a:cs typeface="Nunito"/>
                <a:sym typeface="Nunito"/>
              </a:rPr>
              <a:t> account does not have a significant impact on personal loan.</a:t>
            </a:r>
            <a:endParaRPr>
              <a:latin typeface="Nunito"/>
              <a:ea typeface="Nunito"/>
              <a:cs typeface="Nunito"/>
              <a:sym typeface="Nunito"/>
            </a:endParaRPr>
          </a:p>
        </p:txBody>
      </p:sp>
      <p:pic>
        <p:nvPicPr>
          <p:cNvPr id="307" name="Google Shape;307;g22043722798_0_71"/>
          <p:cNvPicPr preferRelativeResize="0"/>
          <p:nvPr/>
        </p:nvPicPr>
        <p:blipFill>
          <a:blip r:embed="rId3">
            <a:alphaModFix/>
          </a:blip>
          <a:stretch>
            <a:fillRect/>
          </a:stretch>
        </p:blipFill>
        <p:spPr>
          <a:xfrm>
            <a:off x="70425" y="1964925"/>
            <a:ext cx="4511526" cy="3178575"/>
          </a:xfrm>
          <a:prstGeom prst="rect">
            <a:avLst/>
          </a:prstGeom>
          <a:noFill/>
          <a:ln>
            <a:noFill/>
          </a:ln>
        </p:spPr>
      </p:pic>
      <p:pic>
        <p:nvPicPr>
          <p:cNvPr id="308" name="Google Shape;308;g22043722798_0_71"/>
          <p:cNvPicPr preferRelativeResize="0"/>
          <p:nvPr/>
        </p:nvPicPr>
        <p:blipFill>
          <a:blip r:embed="rId4">
            <a:alphaModFix/>
          </a:blip>
          <a:stretch>
            <a:fillRect/>
          </a:stretch>
        </p:blipFill>
        <p:spPr>
          <a:xfrm>
            <a:off x="4572000" y="2006610"/>
            <a:ext cx="4393199" cy="309520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22043722798_0_82"/>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Bivariate Analysis </a:t>
            </a:r>
            <a:endParaRPr sz="2400">
              <a:solidFill>
                <a:srgbClr val="0E39A9"/>
              </a:solidFill>
            </a:endParaRPr>
          </a:p>
        </p:txBody>
      </p:sp>
      <p:sp>
        <p:nvSpPr>
          <p:cNvPr id="314" name="Google Shape;314;g22043722798_0_82"/>
          <p:cNvSpPr txBox="1"/>
          <p:nvPr/>
        </p:nvSpPr>
        <p:spPr>
          <a:xfrm>
            <a:off x="4730150" y="1070925"/>
            <a:ext cx="42399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Credit Card holders</a:t>
            </a:r>
            <a:r>
              <a:rPr lang="en">
                <a:latin typeface="Nunito"/>
                <a:ea typeface="Nunito"/>
                <a:cs typeface="Nunito"/>
                <a:sym typeface="Nunito"/>
              </a:rPr>
              <a:t> have no significant impact on personal loans.</a:t>
            </a:r>
            <a:endParaRPr>
              <a:latin typeface="Nunito"/>
              <a:ea typeface="Nunito"/>
              <a:cs typeface="Nunito"/>
              <a:sym typeface="Nunito"/>
            </a:endParaRPr>
          </a:p>
        </p:txBody>
      </p:sp>
      <p:sp>
        <p:nvSpPr>
          <p:cNvPr id="315" name="Google Shape;315;g22043722798_0_82"/>
          <p:cNvSpPr txBox="1"/>
          <p:nvPr/>
        </p:nvSpPr>
        <p:spPr>
          <a:xfrm>
            <a:off x="261650" y="1070925"/>
            <a:ext cx="43932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Online </a:t>
            </a:r>
            <a:r>
              <a:rPr lang="en">
                <a:latin typeface="Nunito"/>
                <a:ea typeface="Nunito"/>
                <a:cs typeface="Nunito"/>
                <a:sym typeface="Nunito"/>
              </a:rPr>
              <a:t>customers have no significant impact on personal loans.</a:t>
            </a:r>
            <a:endParaRPr>
              <a:latin typeface="Nunito"/>
              <a:ea typeface="Nunito"/>
              <a:cs typeface="Nunito"/>
              <a:sym typeface="Nunito"/>
            </a:endParaRPr>
          </a:p>
        </p:txBody>
      </p:sp>
      <p:pic>
        <p:nvPicPr>
          <p:cNvPr id="316" name="Google Shape;316;g22043722798_0_82"/>
          <p:cNvPicPr preferRelativeResize="0"/>
          <p:nvPr/>
        </p:nvPicPr>
        <p:blipFill>
          <a:blip r:embed="rId3">
            <a:alphaModFix/>
          </a:blip>
          <a:stretch>
            <a:fillRect/>
          </a:stretch>
        </p:blipFill>
        <p:spPr>
          <a:xfrm>
            <a:off x="202550" y="2035091"/>
            <a:ext cx="4393199" cy="3095209"/>
          </a:xfrm>
          <a:prstGeom prst="rect">
            <a:avLst/>
          </a:prstGeom>
          <a:noFill/>
          <a:ln>
            <a:noFill/>
          </a:ln>
        </p:spPr>
      </p:pic>
      <p:pic>
        <p:nvPicPr>
          <p:cNvPr id="317" name="Google Shape;317;g22043722798_0_82"/>
          <p:cNvPicPr preferRelativeResize="0"/>
          <p:nvPr/>
        </p:nvPicPr>
        <p:blipFill>
          <a:blip r:embed="rId4">
            <a:alphaModFix/>
          </a:blip>
          <a:stretch>
            <a:fillRect/>
          </a:stretch>
        </p:blipFill>
        <p:spPr>
          <a:xfrm>
            <a:off x="4595750" y="2028641"/>
            <a:ext cx="4393199" cy="309520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22043722798_0_92"/>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Bivariate Analysis </a:t>
            </a:r>
            <a:endParaRPr sz="2400">
              <a:solidFill>
                <a:srgbClr val="0E39A9"/>
              </a:solidFill>
            </a:endParaRPr>
          </a:p>
        </p:txBody>
      </p:sp>
      <p:sp>
        <p:nvSpPr>
          <p:cNvPr id="323" name="Google Shape;323;g22043722798_0_92"/>
          <p:cNvSpPr txBox="1"/>
          <p:nvPr/>
        </p:nvSpPr>
        <p:spPr>
          <a:xfrm>
            <a:off x="261650" y="1070925"/>
            <a:ext cx="84615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Customers across different </a:t>
            </a:r>
            <a:r>
              <a:rPr lang="en">
                <a:latin typeface="Nunito"/>
                <a:ea typeface="Nunito"/>
                <a:cs typeface="Nunito"/>
                <a:sym typeface="Nunito"/>
              </a:rPr>
              <a:t>Zip Codes</a:t>
            </a:r>
            <a:r>
              <a:rPr lang="en">
                <a:latin typeface="Nunito"/>
                <a:ea typeface="Nunito"/>
                <a:cs typeface="Nunito"/>
                <a:sym typeface="Nunito"/>
              </a:rPr>
              <a:t> have no significant impact on personal loans.</a:t>
            </a:r>
            <a:endParaRPr>
              <a:latin typeface="Nunito"/>
              <a:ea typeface="Nunito"/>
              <a:cs typeface="Nunito"/>
              <a:sym typeface="Nunito"/>
            </a:endParaRPr>
          </a:p>
        </p:txBody>
      </p:sp>
      <p:pic>
        <p:nvPicPr>
          <p:cNvPr id="324" name="Google Shape;324;g22043722798_0_92"/>
          <p:cNvPicPr preferRelativeResize="0"/>
          <p:nvPr/>
        </p:nvPicPr>
        <p:blipFill>
          <a:blip r:embed="rId3">
            <a:alphaModFix/>
          </a:blip>
          <a:stretch>
            <a:fillRect/>
          </a:stretch>
        </p:blipFill>
        <p:spPr>
          <a:xfrm>
            <a:off x="1159600" y="1719325"/>
            <a:ext cx="7563549" cy="34241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2f308c1a282_0_0"/>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Bivariate Analysis - Target Age</a:t>
            </a:r>
            <a:endParaRPr sz="2400">
              <a:solidFill>
                <a:srgbClr val="0E39A9"/>
              </a:solidFill>
            </a:endParaRPr>
          </a:p>
        </p:txBody>
      </p:sp>
      <p:sp>
        <p:nvSpPr>
          <p:cNvPr id="330" name="Google Shape;330;g2f308c1a282_0_0"/>
          <p:cNvSpPr txBox="1"/>
          <p:nvPr/>
        </p:nvSpPr>
        <p:spPr>
          <a:xfrm>
            <a:off x="261650" y="980900"/>
            <a:ext cx="84615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Customers with higher age have a little impact on personal loans.</a:t>
            </a:r>
            <a:endParaRPr>
              <a:latin typeface="Nunito"/>
              <a:ea typeface="Nunito"/>
              <a:cs typeface="Nunito"/>
              <a:sym typeface="Nunito"/>
            </a:endParaRPr>
          </a:p>
        </p:txBody>
      </p:sp>
      <p:pic>
        <p:nvPicPr>
          <p:cNvPr id="331" name="Google Shape;331;g2f308c1a282_0_0"/>
          <p:cNvPicPr preferRelativeResize="0"/>
          <p:nvPr/>
        </p:nvPicPr>
        <p:blipFill>
          <a:blip r:embed="rId3">
            <a:alphaModFix/>
          </a:blip>
          <a:stretch>
            <a:fillRect/>
          </a:stretch>
        </p:blipFill>
        <p:spPr>
          <a:xfrm>
            <a:off x="258026" y="1446056"/>
            <a:ext cx="8627949" cy="358181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2f308c1a282_0_12"/>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Bivariate Analysis - Target Experience</a:t>
            </a:r>
            <a:endParaRPr sz="2400">
              <a:solidFill>
                <a:srgbClr val="0E39A9"/>
              </a:solidFill>
            </a:endParaRPr>
          </a:p>
        </p:txBody>
      </p:sp>
      <p:sp>
        <p:nvSpPr>
          <p:cNvPr id="337" name="Google Shape;337;g2f308c1a282_0_12"/>
          <p:cNvSpPr txBox="1"/>
          <p:nvPr/>
        </p:nvSpPr>
        <p:spPr>
          <a:xfrm>
            <a:off x="265050" y="831850"/>
            <a:ext cx="84615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Experience of customer does not have a significant impact on Personal Loans.</a:t>
            </a:r>
            <a:endParaRPr>
              <a:latin typeface="Nunito"/>
              <a:ea typeface="Nunito"/>
              <a:cs typeface="Nunito"/>
              <a:sym typeface="Nunito"/>
            </a:endParaRPr>
          </a:p>
        </p:txBody>
      </p:sp>
      <p:pic>
        <p:nvPicPr>
          <p:cNvPr id="338" name="Google Shape;338;g2f308c1a282_0_12"/>
          <p:cNvPicPr preferRelativeResize="0"/>
          <p:nvPr/>
        </p:nvPicPr>
        <p:blipFill>
          <a:blip r:embed="rId3">
            <a:alphaModFix/>
          </a:blip>
          <a:stretch>
            <a:fillRect/>
          </a:stretch>
        </p:blipFill>
        <p:spPr>
          <a:xfrm>
            <a:off x="557011" y="1354325"/>
            <a:ext cx="7786865" cy="36078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2f308c1a282_0_19"/>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Bivariate Analysis - Target Income</a:t>
            </a:r>
            <a:endParaRPr sz="2400">
              <a:solidFill>
                <a:srgbClr val="0E39A9"/>
              </a:solidFill>
            </a:endParaRPr>
          </a:p>
        </p:txBody>
      </p:sp>
      <p:sp>
        <p:nvSpPr>
          <p:cNvPr id="344" name="Google Shape;344;g2f308c1a282_0_19"/>
          <p:cNvSpPr txBox="1"/>
          <p:nvPr/>
        </p:nvSpPr>
        <p:spPr>
          <a:xfrm>
            <a:off x="265050" y="831850"/>
            <a:ext cx="84615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On an average Customers with higher incomes have personal loans.</a:t>
            </a:r>
            <a:endParaRPr>
              <a:latin typeface="Nunito"/>
              <a:ea typeface="Nunito"/>
              <a:cs typeface="Nunito"/>
              <a:sym typeface="Nunito"/>
            </a:endParaRPr>
          </a:p>
        </p:txBody>
      </p:sp>
      <p:pic>
        <p:nvPicPr>
          <p:cNvPr id="345" name="Google Shape;345;g2f308c1a282_0_19"/>
          <p:cNvPicPr preferRelativeResize="0"/>
          <p:nvPr/>
        </p:nvPicPr>
        <p:blipFill>
          <a:blip r:embed="rId3">
            <a:alphaModFix/>
          </a:blip>
          <a:stretch>
            <a:fillRect/>
          </a:stretch>
        </p:blipFill>
        <p:spPr>
          <a:xfrm>
            <a:off x="570725" y="1262175"/>
            <a:ext cx="7968075" cy="38813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2f308c1a282_0_26"/>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 - Bivariate Analysis - Target CCAvg</a:t>
            </a:r>
            <a:endParaRPr sz="2400">
              <a:solidFill>
                <a:srgbClr val="0E39A9"/>
              </a:solidFill>
            </a:endParaRPr>
          </a:p>
        </p:txBody>
      </p:sp>
      <p:sp>
        <p:nvSpPr>
          <p:cNvPr id="351" name="Google Shape;351;g2f308c1a282_0_26"/>
          <p:cNvSpPr txBox="1"/>
          <p:nvPr/>
        </p:nvSpPr>
        <p:spPr>
          <a:xfrm>
            <a:off x="265050" y="831850"/>
            <a:ext cx="84615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Credit card usage has a high impact on personal loans.</a:t>
            </a:r>
            <a:endParaRPr>
              <a:latin typeface="Nunito"/>
              <a:ea typeface="Nunito"/>
              <a:cs typeface="Nunito"/>
              <a:sym typeface="Nunito"/>
            </a:endParaRPr>
          </a:p>
        </p:txBody>
      </p:sp>
      <p:pic>
        <p:nvPicPr>
          <p:cNvPr id="352" name="Google Shape;352;g2f308c1a282_0_26"/>
          <p:cNvPicPr preferRelativeResize="0"/>
          <p:nvPr/>
        </p:nvPicPr>
        <p:blipFill>
          <a:blip r:embed="rId3">
            <a:alphaModFix/>
          </a:blip>
          <a:stretch>
            <a:fillRect/>
          </a:stretch>
        </p:blipFill>
        <p:spPr>
          <a:xfrm>
            <a:off x="842825" y="1354325"/>
            <a:ext cx="7305950" cy="375905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6"/>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Data Preprocessing	</a:t>
            </a:r>
            <a:endParaRPr sz="2400">
              <a:solidFill>
                <a:srgbClr val="0E39A9"/>
              </a:solidFill>
            </a:endParaRPr>
          </a:p>
        </p:txBody>
      </p:sp>
      <p:sp>
        <p:nvSpPr>
          <p:cNvPr id="358" name="Google Shape;358;p6"/>
          <p:cNvSpPr txBox="1"/>
          <p:nvPr/>
        </p:nvSpPr>
        <p:spPr>
          <a:xfrm>
            <a:off x="325250" y="808475"/>
            <a:ext cx="8397900" cy="34662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There are no duplicate values. </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There are no missing values. There are lot of Mortgage values that are 0, which is not treated as missing value.</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Some field values such as Education, Personal_Loan, Securities_Account, CD_Account, Online, CreditCard, ZIPCode are updated to be categorical values.</a:t>
            </a:r>
            <a:endParaRPr sz="1600">
              <a:latin typeface="Nunito"/>
              <a:ea typeface="Nunito"/>
              <a:cs typeface="Nunito"/>
              <a:sym typeface="Nunito"/>
            </a:endParaRPr>
          </a:p>
          <a:p>
            <a:pPr indent="-330200" lvl="0" marL="4572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Experience values are </a:t>
            </a:r>
            <a:r>
              <a:rPr lang="en" sz="1600">
                <a:latin typeface="Nunito"/>
                <a:ea typeface="Nunito"/>
                <a:cs typeface="Nunito"/>
                <a:sym typeface="Nunito"/>
              </a:rPr>
              <a:t>negative so we take absolute values for analysis.</a:t>
            </a:r>
            <a:endParaRPr sz="1600">
              <a:latin typeface="Nunito"/>
              <a:ea typeface="Nunito"/>
              <a:cs typeface="Nunito"/>
              <a:sym typeface="Nunito"/>
            </a:endParaRPr>
          </a:p>
          <a:p>
            <a:pPr indent="-330200" lvl="0" marL="4572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Dropped the ‘Experience’ variable as it was perfectly correlated with Age.</a:t>
            </a:r>
            <a:endParaRPr sz="1600">
              <a:latin typeface="Nunito"/>
              <a:ea typeface="Nunito"/>
              <a:cs typeface="Nunito"/>
              <a:sym typeface="Nunito"/>
            </a:endParaRPr>
          </a:p>
          <a:p>
            <a:pPr indent="-330200" lvl="0" marL="4572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Education has unique values of 1, 2 and 3.</a:t>
            </a:r>
            <a:endParaRPr sz="1600">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Income, CCAvg and Mortgage are heavily skewed. </a:t>
            </a:r>
            <a:endParaRPr b="0" i="0" sz="1600" u="none" cap="none" strike="noStrike">
              <a:solidFill>
                <a:srgbClr val="000000"/>
              </a:solidFill>
              <a:latin typeface="Nunito"/>
              <a:ea typeface="Nunito"/>
              <a:cs typeface="Nunito"/>
              <a:sym typeface="Nuni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7"/>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Model Building - Initial Model </a:t>
            </a:r>
            <a:endParaRPr sz="2400">
              <a:solidFill>
                <a:srgbClr val="0E39A9"/>
              </a:solidFill>
            </a:endParaRPr>
          </a:p>
          <a:p>
            <a:pPr indent="0" lvl="0" marL="0" rtl="0" algn="l">
              <a:lnSpc>
                <a:spcPct val="100000"/>
              </a:lnSpc>
              <a:spcBef>
                <a:spcPts val="0"/>
              </a:spcBef>
              <a:spcAft>
                <a:spcPts val="0"/>
              </a:spcAft>
              <a:buSzPts val="2200"/>
              <a:buNone/>
            </a:pPr>
            <a:r>
              <a:t/>
            </a:r>
            <a:endParaRPr sz="2350">
              <a:solidFill>
                <a:srgbClr val="0E39A9"/>
              </a:solidFill>
            </a:endParaRPr>
          </a:p>
        </p:txBody>
      </p:sp>
      <p:pic>
        <p:nvPicPr>
          <p:cNvPr id="364" name="Google Shape;364;p7"/>
          <p:cNvPicPr preferRelativeResize="0"/>
          <p:nvPr/>
        </p:nvPicPr>
        <p:blipFill>
          <a:blip r:embed="rId3">
            <a:alphaModFix/>
          </a:blip>
          <a:stretch>
            <a:fillRect/>
          </a:stretch>
        </p:blipFill>
        <p:spPr>
          <a:xfrm>
            <a:off x="4477500" y="1751600"/>
            <a:ext cx="4265625" cy="3391900"/>
          </a:xfrm>
          <a:prstGeom prst="rect">
            <a:avLst/>
          </a:prstGeom>
          <a:noFill/>
          <a:ln>
            <a:noFill/>
          </a:ln>
        </p:spPr>
      </p:pic>
      <p:pic>
        <p:nvPicPr>
          <p:cNvPr id="365" name="Google Shape;365;p7"/>
          <p:cNvPicPr preferRelativeResize="0"/>
          <p:nvPr/>
        </p:nvPicPr>
        <p:blipFill rotWithShape="1">
          <a:blip r:embed="rId4">
            <a:alphaModFix/>
          </a:blip>
          <a:srcRect b="-2200" l="0" r="0" t="2200"/>
          <a:stretch/>
        </p:blipFill>
        <p:spPr>
          <a:xfrm>
            <a:off x="639700" y="1712987"/>
            <a:ext cx="3860076" cy="3469125"/>
          </a:xfrm>
          <a:prstGeom prst="rect">
            <a:avLst/>
          </a:prstGeom>
          <a:noFill/>
          <a:ln>
            <a:noFill/>
          </a:ln>
        </p:spPr>
      </p:pic>
      <p:sp>
        <p:nvSpPr>
          <p:cNvPr id="366" name="Google Shape;366;p7"/>
          <p:cNvSpPr txBox="1"/>
          <p:nvPr/>
        </p:nvSpPr>
        <p:spPr>
          <a:xfrm>
            <a:off x="371700" y="618475"/>
            <a:ext cx="8275200" cy="9660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Model was built using DecisionTreeClassifier</a:t>
            </a:r>
            <a:endParaRPr sz="1500">
              <a:solidFill>
                <a:schemeClr val="dk2"/>
              </a:solidFill>
              <a:latin typeface="Nunito"/>
              <a:ea typeface="Nunito"/>
              <a:cs typeface="Nunito"/>
              <a:sym typeface="Nunito"/>
            </a:endParaRPr>
          </a:p>
          <a:p>
            <a:pPr indent="-323850" lvl="0" marL="457200" rtl="0" algn="l">
              <a:spcBef>
                <a:spcPts val="0"/>
              </a:spcBef>
              <a:spcAft>
                <a:spcPts val="0"/>
              </a:spcAft>
              <a:buClr>
                <a:schemeClr val="dk2"/>
              </a:buClr>
              <a:buSzPts val="1500"/>
              <a:buFont typeface="Nunito"/>
              <a:buChar char="●"/>
            </a:pPr>
            <a:r>
              <a:rPr lang="en" sz="1500">
                <a:solidFill>
                  <a:schemeClr val="dk1"/>
                </a:solidFill>
                <a:latin typeface="Nunito"/>
                <a:ea typeface="Nunito"/>
                <a:cs typeface="Nunito"/>
                <a:sym typeface="Nunito"/>
              </a:rPr>
              <a:t>A</a:t>
            </a:r>
            <a:r>
              <a:rPr lang="en" sz="1500">
                <a:solidFill>
                  <a:schemeClr val="dk1"/>
                </a:solidFill>
                <a:latin typeface="Nunito"/>
                <a:ea typeface="Nunito"/>
                <a:cs typeface="Nunito"/>
                <a:sym typeface="Nunito"/>
              </a:rPr>
              <a:t>ccuracy is not a good metric to evaluate, as </a:t>
            </a:r>
            <a:r>
              <a:rPr lang="en" sz="1500">
                <a:solidFill>
                  <a:schemeClr val="dk2"/>
                </a:solidFill>
                <a:latin typeface="Nunito"/>
                <a:ea typeface="Nunito"/>
                <a:cs typeface="Nunito"/>
                <a:sym typeface="Nunito"/>
              </a:rPr>
              <a:t>a</a:t>
            </a:r>
            <a:r>
              <a:rPr lang="en" sz="1500">
                <a:solidFill>
                  <a:schemeClr val="dk2"/>
                </a:solidFill>
                <a:latin typeface="Nunito"/>
                <a:ea typeface="Nunito"/>
                <a:cs typeface="Nunito"/>
                <a:sym typeface="Nunito"/>
              </a:rPr>
              <a:t>round 10% of positive classes, even if all cases were set to negative, the accuracy would still be 90%.</a:t>
            </a:r>
            <a:endParaRPr sz="1500">
              <a:solidFill>
                <a:schemeClr val="dk2"/>
              </a:solidFill>
              <a:latin typeface="Nunito"/>
              <a:ea typeface="Nunito"/>
              <a:cs typeface="Nunito"/>
              <a:sym typeface="Nunito"/>
            </a:endParaRPr>
          </a:p>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Model is too complex and we are overfitting the model.</a:t>
            </a:r>
            <a:endParaRPr sz="1500">
              <a:solidFill>
                <a:schemeClr val="dk2"/>
              </a:solidFill>
              <a:latin typeface="Nunito"/>
              <a:ea typeface="Nunito"/>
              <a:cs typeface="Nunito"/>
              <a:sym typeface="Nuni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28134c4af0e_0_16"/>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Model Building - Initial Model </a:t>
            </a:r>
            <a:endParaRPr sz="2400">
              <a:solidFill>
                <a:srgbClr val="0E39A9"/>
              </a:solidFill>
            </a:endParaRPr>
          </a:p>
          <a:p>
            <a:pPr indent="0" lvl="0" marL="0" rtl="0" algn="l">
              <a:lnSpc>
                <a:spcPct val="100000"/>
              </a:lnSpc>
              <a:spcBef>
                <a:spcPts val="0"/>
              </a:spcBef>
              <a:spcAft>
                <a:spcPts val="0"/>
              </a:spcAft>
              <a:buSzPts val="2200"/>
              <a:buNone/>
            </a:pPr>
            <a:r>
              <a:t/>
            </a:r>
            <a:endParaRPr sz="2350">
              <a:solidFill>
                <a:srgbClr val="0E39A9"/>
              </a:solidFill>
            </a:endParaRPr>
          </a:p>
        </p:txBody>
      </p:sp>
      <p:sp>
        <p:nvSpPr>
          <p:cNvPr id="372" name="Google Shape;372;g28134c4af0e_0_16"/>
          <p:cNvSpPr txBox="1"/>
          <p:nvPr/>
        </p:nvSpPr>
        <p:spPr>
          <a:xfrm>
            <a:off x="371700" y="740225"/>
            <a:ext cx="8275200" cy="5727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Visualization</a:t>
            </a:r>
            <a:r>
              <a:rPr lang="en" sz="1500">
                <a:solidFill>
                  <a:schemeClr val="dk2"/>
                </a:solidFill>
                <a:latin typeface="Nunito"/>
                <a:ea typeface="Nunito"/>
                <a:cs typeface="Nunito"/>
                <a:sym typeface="Nunito"/>
              </a:rPr>
              <a:t> of initial </a:t>
            </a:r>
            <a:r>
              <a:rPr lang="en" sz="1500">
                <a:solidFill>
                  <a:schemeClr val="dk2"/>
                </a:solidFill>
                <a:latin typeface="Nunito"/>
                <a:ea typeface="Nunito"/>
                <a:cs typeface="Nunito"/>
                <a:sym typeface="Nunito"/>
              </a:rPr>
              <a:t>decision tree shows that is hard to interpret and analyze.</a:t>
            </a:r>
            <a:endParaRPr sz="1500">
              <a:solidFill>
                <a:schemeClr val="dk2"/>
              </a:solidFill>
              <a:latin typeface="Nunito"/>
              <a:ea typeface="Nunito"/>
              <a:cs typeface="Nunito"/>
              <a:sym typeface="Nunito"/>
            </a:endParaRPr>
          </a:p>
        </p:txBody>
      </p:sp>
      <p:pic>
        <p:nvPicPr>
          <p:cNvPr id="373" name="Google Shape;373;g28134c4af0e_0_16"/>
          <p:cNvPicPr preferRelativeResize="0"/>
          <p:nvPr/>
        </p:nvPicPr>
        <p:blipFill>
          <a:blip r:embed="rId3">
            <a:alphaModFix/>
          </a:blip>
          <a:stretch>
            <a:fillRect/>
          </a:stretch>
        </p:blipFill>
        <p:spPr>
          <a:xfrm>
            <a:off x="107574" y="1312925"/>
            <a:ext cx="8928851" cy="37999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28134c4af0e_0_24"/>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Performance - Pre Pruning</a:t>
            </a:r>
            <a:endParaRPr/>
          </a:p>
        </p:txBody>
      </p:sp>
      <p:sp>
        <p:nvSpPr>
          <p:cNvPr id="379" name="Google Shape;379;g28134c4af0e_0_24"/>
          <p:cNvSpPr txBox="1"/>
          <p:nvPr>
            <p:ph idx="1" type="body"/>
          </p:nvPr>
        </p:nvSpPr>
        <p:spPr>
          <a:xfrm>
            <a:off x="177450" y="730650"/>
            <a:ext cx="8789100" cy="5106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To improve performance, decision tree was pre-pruned </a:t>
            </a:r>
            <a:r>
              <a:rPr lang="en"/>
              <a:t>based on the Gini importance of the f</a:t>
            </a:r>
            <a:r>
              <a:rPr lang="en"/>
              <a:t>eatures. </a:t>
            </a:r>
            <a:endParaRPr/>
          </a:p>
          <a:p>
            <a:pPr indent="-323850" lvl="0" marL="457200" rtl="0" algn="l">
              <a:spcBef>
                <a:spcPts val="0"/>
              </a:spcBef>
              <a:spcAft>
                <a:spcPts val="0"/>
              </a:spcAft>
              <a:buSzPts val="1500"/>
              <a:buChar char="●"/>
            </a:pPr>
            <a:r>
              <a:rPr lang="en"/>
              <a:t>The recall scores for the test set is 0.91.</a:t>
            </a:r>
            <a:endParaRPr/>
          </a:p>
          <a:p>
            <a:pPr indent="-323850" lvl="0" marL="457200" rtl="0" algn="l">
              <a:spcBef>
                <a:spcPts val="0"/>
              </a:spcBef>
              <a:spcAft>
                <a:spcPts val="0"/>
              </a:spcAft>
              <a:buSzPts val="1500"/>
              <a:buChar char="●"/>
            </a:pPr>
            <a:r>
              <a:rPr lang="en"/>
              <a:t>Income is the most important feature, followed by Family, Education, CCAvg and Age.</a:t>
            </a:r>
            <a:endParaRPr/>
          </a:p>
        </p:txBody>
      </p:sp>
      <p:pic>
        <p:nvPicPr>
          <p:cNvPr id="380" name="Google Shape;380;g28134c4af0e_0_24"/>
          <p:cNvPicPr preferRelativeResize="0"/>
          <p:nvPr/>
        </p:nvPicPr>
        <p:blipFill>
          <a:blip r:embed="rId3">
            <a:alphaModFix/>
          </a:blip>
          <a:stretch>
            <a:fillRect/>
          </a:stretch>
        </p:blipFill>
        <p:spPr>
          <a:xfrm>
            <a:off x="4198375" y="1945550"/>
            <a:ext cx="4465081" cy="3197950"/>
          </a:xfrm>
          <a:prstGeom prst="rect">
            <a:avLst/>
          </a:prstGeom>
          <a:noFill/>
          <a:ln>
            <a:noFill/>
          </a:ln>
        </p:spPr>
      </p:pic>
      <p:pic>
        <p:nvPicPr>
          <p:cNvPr id="381" name="Google Shape;381;g28134c4af0e_0_24"/>
          <p:cNvPicPr preferRelativeResize="0"/>
          <p:nvPr/>
        </p:nvPicPr>
        <p:blipFill>
          <a:blip r:embed="rId4">
            <a:alphaModFix/>
          </a:blip>
          <a:stretch>
            <a:fillRect/>
          </a:stretch>
        </p:blipFill>
        <p:spPr>
          <a:xfrm>
            <a:off x="640025" y="1945550"/>
            <a:ext cx="3558350" cy="31979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28134c4af0e_0_29"/>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Performance - Pre Pruning </a:t>
            </a:r>
            <a:endParaRPr/>
          </a:p>
        </p:txBody>
      </p:sp>
      <p:sp>
        <p:nvSpPr>
          <p:cNvPr id="387" name="Google Shape;387;g28134c4af0e_0_29"/>
          <p:cNvSpPr txBox="1"/>
          <p:nvPr>
            <p:ph idx="1" type="body"/>
          </p:nvPr>
        </p:nvSpPr>
        <p:spPr>
          <a:xfrm>
            <a:off x="202550" y="861975"/>
            <a:ext cx="8629800" cy="5106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Visualized of a pre-pruned decision tree shows its easier to interpret and is not overfit.</a:t>
            </a:r>
            <a:endParaRPr/>
          </a:p>
        </p:txBody>
      </p:sp>
      <p:pic>
        <p:nvPicPr>
          <p:cNvPr id="388" name="Google Shape;388;g28134c4af0e_0_29"/>
          <p:cNvPicPr preferRelativeResize="0"/>
          <p:nvPr/>
        </p:nvPicPr>
        <p:blipFill>
          <a:blip r:embed="rId3">
            <a:alphaModFix/>
          </a:blip>
          <a:stretch>
            <a:fillRect/>
          </a:stretch>
        </p:blipFill>
        <p:spPr>
          <a:xfrm>
            <a:off x="2421563" y="1178875"/>
            <a:ext cx="4300876" cy="39646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28134c4af0e_0_45"/>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Performance - Cost Complexity</a:t>
            </a:r>
            <a:r>
              <a:rPr lang="en"/>
              <a:t> Pruning </a:t>
            </a:r>
            <a:endParaRPr/>
          </a:p>
        </p:txBody>
      </p:sp>
      <p:sp>
        <p:nvSpPr>
          <p:cNvPr id="394" name="Google Shape;394;g28134c4af0e_0_45"/>
          <p:cNvSpPr txBox="1"/>
          <p:nvPr>
            <p:ph idx="1" type="body"/>
          </p:nvPr>
        </p:nvSpPr>
        <p:spPr>
          <a:xfrm>
            <a:off x="202550" y="861975"/>
            <a:ext cx="8629800" cy="510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When </a:t>
            </a:r>
            <a:r>
              <a:rPr lang="en" sz="1800">
                <a:solidFill>
                  <a:srgbClr val="000000"/>
                </a:solidFill>
              </a:rPr>
              <a:t>alpha value is between .006 and 0.225 the recall value for both train and test are high. </a:t>
            </a:r>
            <a:endParaRPr sz="1800">
              <a:solidFill>
                <a:srgbClr val="000000"/>
              </a:solidFill>
            </a:endParaRPr>
          </a:p>
          <a:p>
            <a:pPr indent="-342900" lvl="0" marL="457200" rtl="0" algn="l">
              <a:spcBef>
                <a:spcPts val="0"/>
              </a:spcBef>
              <a:spcAft>
                <a:spcPts val="0"/>
              </a:spcAft>
              <a:buSzPts val="1800"/>
              <a:buChar char="●"/>
            </a:pPr>
            <a:r>
              <a:rPr lang="en" sz="1800">
                <a:solidFill>
                  <a:srgbClr val="000000"/>
                </a:solidFill>
              </a:rPr>
              <a:t>So we will use the alpha value of 0.01 to get high recall values.</a:t>
            </a:r>
            <a:endParaRPr sz="1800">
              <a:solidFill>
                <a:srgbClr val="000000"/>
              </a:solidFill>
            </a:endParaRPr>
          </a:p>
        </p:txBody>
      </p:sp>
      <p:pic>
        <p:nvPicPr>
          <p:cNvPr id="395" name="Google Shape;395;g28134c4af0e_0_45"/>
          <p:cNvPicPr preferRelativeResize="0"/>
          <p:nvPr/>
        </p:nvPicPr>
        <p:blipFill>
          <a:blip r:embed="rId3">
            <a:alphaModFix/>
          </a:blip>
          <a:stretch>
            <a:fillRect/>
          </a:stretch>
        </p:blipFill>
        <p:spPr>
          <a:xfrm>
            <a:off x="395775" y="1982750"/>
            <a:ext cx="8352450" cy="31607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g28134c4af0e_0_55"/>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Performance - Post Pruning </a:t>
            </a:r>
            <a:endParaRPr/>
          </a:p>
        </p:txBody>
      </p:sp>
      <p:sp>
        <p:nvSpPr>
          <p:cNvPr id="401" name="Google Shape;401;g28134c4af0e_0_55"/>
          <p:cNvSpPr txBox="1"/>
          <p:nvPr>
            <p:ph idx="1" type="body"/>
          </p:nvPr>
        </p:nvSpPr>
        <p:spPr>
          <a:xfrm>
            <a:off x="202550" y="861975"/>
            <a:ext cx="8629800" cy="11625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We built our model using the DecisionTreeClassifier and set our ccp_alpha parameter to 0.01.</a:t>
            </a:r>
            <a:endParaRPr/>
          </a:p>
          <a:p>
            <a:pPr indent="-323850" lvl="0" marL="457200" rtl="0" algn="l">
              <a:spcBef>
                <a:spcPts val="0"/>
              </a:spcBef>
              <a:spcAft>
                <a:spcPts val="0"/>
              </a:spcAft>
              <a:buSzPts val="1500"/>
              <a:buChar char="●"/>
            </a:pPr>
            <a:r>
              <a:rPr lang="en"/>
              <a:t>Features that impacted the results were I</a:t>
            </a:r>
            <a:r>
              <a:rPr lang="en"/>
              <a:t>ncome, Education, Family, and CCAvg.</a:t>
            </a:r>
            <a:endParaRPr/>
          </a:p>
          <a:p>
            <a:pPr indent="-323850" lvl="0" marL="457200" rtl="0" algn="l">
              <a:spcBef>
                <a:spcPts val="0"/>
              </a:spcBef>
              <a:spcAft>
                <a:spcPts val="0"/>
              </a:spcAft>
              <a:buSzPts val="1500"/>
              <a:buChar char="●"/>
            </a:pPr>
            <a:r>
              <a:rPr lang="en"/>
              <a:t>The recall </a:t>
            </a:r>
            <a:r>
              <a:rPr lang="en"/>
              <a:t>values </a:t>
            </a:r>
            <a:r>
              <a:rPr lang="en"/>
              <a:t>for training set was 0.99 and the test set was 0.98.</a:t>
            </a:r>
            <a:endParaRPr/>
          </a:p>
          <a:p>
            <a:pPr indent="-323850" lvl="0" marL="457200" rtl="0" algn="l">
              <a:spcBef>
                <a:spcPts val="0"/>
              </a:spcBef>
              <a:spcAft>
                <a:spcPts val="0"/>
              </a:spcAft>
              <a:buSzPts val="1500"/>
              <a:buChar char="●"/>
            </a:pPr>
            <a:r>
              <a:rPr lang="en"/>
              <a:t>There is no overfitting of the model</a:t>
            </a:r>
            <a:endParaRPr/>
          </a:p>
        </p:txBody>
      </p:sp>
      <p:pic>
        <p:nvPicPr>
          <p:cNvPr id="402" name="Google Shape;402;g28134c4af0e_0_55"/>
          <p:cNvPicPr preferRelativeResize="0"/>
          <p:nvPr/>
        </p:nvPicPr>
        <p:blipFill>
          <a:blip r:embed="rId3">
            <a:alphaModFix/>
          </a:blip>
          <a:stretch>
            <a:fillRect/>
          </a:stretch>
        </p:blipFill>
        <p:spPr>
          <a:xfrm>
            <a:off x="4280999" y="2236536"/>
            <a:ext cx="4058775" cy="2906975"/>
          </a:xfrm>
          <a:prstGeom prst="rect">
            <a:avLst/>
          </a:prstGeom>
          <a:noFill/>
          <a:ln>
            <a:noFill/>
          </a:ln>
        </p:spPr>
      </p:pic>
      <p:pic>
        <p:nvPicPr>
          <p:cNvPr id="403" name="Google Shape;403;g28134c4af0e_0_55"/>
          <p:cNvPicPr preferRelativeResize="0"/>
          <p:nvPr/>
        </p:nvPicPr>
        <p:blipFill>
          <a:blip r:embed="rId4">
            <a:alphaModFix/>
          </a:blip>
          <a:stretch>
            <a:fillRect/>
          </a:stretch>
        </p:blipFill>
        <p:spPr>
          <a:xfrm>
            <a:off x="873674" y="2140650"/>
            <a:ext cx="3341251" cy="300284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28134c4af0e_0_62"/>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Performance - Post Pruning </a:t>
            </a:r>
            <a:endParaRPr/>
          </a:p>
        </p:txBody>
      </p:sp>
      <p:sp>
        <p:nvSpPr>
          <p:cNvPr id="409" name="Google Shape;409;g28134c4af0e_0_62"/>
          <p:cNvSpPr txBox="1"/>
          <p:nvPr>
            <p:ph idx="1" type="body"/>
          </p:nvPr>
        </p:nvSpPr>
        <p:spPr>
          <a:xfrm>
            <a:off x="202550" y="861975"/>
            <a:ext cx="8629800" cy="510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Visualization of the decision tree</a:t>
            </a:r>
            <a:r>
              <a:rPr lang="en" sz="1800">
                <a:solidFill>
                  <a:srgbClr val="000000"/>
                </a:solidFill>
              </a:rPr>
              <a:t> alpha value of 0.01. </a:t>
            </a:r>
            <a:endParaRPr sz="1800">
              <a:solidFill>
                <a:srgbClr val="000000"/>
              </a:solidFill>
            </a:endParaRPr>
          </a:p>
          <a:p>
            <a:pPr indent="-342900" lvl="0" marL="457200" rtl="0" algn="l">
              <a:spcBef>
                <a:spcPts val="0"/>
              </a:spcBef>
              <a:spcAft>
                <a:spcPts val="0"/>
              </a:spcAft>
              <a:buSzPts val="1800"/>
              <a:buChar char="●"/>
            </a:pPr>
            <a:r>
              <a:rPr lang="en" sz="1800">
                <a:solidFill>
                  <a:srgbClr val="000000"/>
                </a:solidFill>
              </a:rPr>
              <a:t>We get a tree that is not overfitted and easy to read.</a:t>
            </a:r>
            <a:endParaRPr sz="1800">
              <a:solidFill>
                <a:srgbClr val="000000"/>
              </a:solidFill>
            </a:endParaRPr>
          </a:p>
        </p:txBody>
      </p:sp>
      <p:pic>
        <p:nvPicPr>
          <p:cNvPr id="410" name="Google Shape;410;g28134c4af0e_0_62"/>
          <p:cNvPicPr preferRelativeResize="0"/>
          <p:nvPr/>
        </p:nvPicPr>
        <p:blipFill>
          <a:blip r:embed="rId3">
            <a:alphaModFix/>
          </a:blip>
          <a:stretch>
            <a:fillRect/>
          </a:stretch>
        </p:blipFill>
        <p:spPr>
          <a:xfrm>
            <a:off x="2409212" y="1525075"/>
            <a:ext cx="4325575" cy="36184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9"/>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350">
                <a:solidFill>
                  <a:srgbClr val="0E39A9"/>
                </a:solidFill>
              </a:rPr>
              <a:t>Model Performance Summary</a:t>
            </a:r>
            <a:endParaRPr sz="2350">
              <a:solidFill>
                <a:srgbClr val="0E39A9"/>
              </a:solidFill>
            </a:endParaRPr>
          </a:p>
        </p:txBody>
      </p:sp>
      <p:sp>
        <p:nvSpPr>
          <p:cNvPr id="416" name="Google Shape;416;p9"/>
          <p:cNvSpPr txBox="1"/>
          <p:nvPr/>
        </p:nvSpPr>
        <p:spPr>
          <a:xfrm>
            <a:off x="325250" y="808475"/>
            <a:ext cx="8397900" cy="21036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solidFill>
                  <a:schemeClr val="dk1"/>
                </a:solidFill>
                <a:latin typeface="Nunito"/>
                <a:ea typeface="Nunito"/>
                <a:cs typeface="Nunito"/>
                <a:sym typeface="Nunito"/>
              </a:rPr>
              <a:t>Pre pruning the decision tree improved the performance of the initial tree by reducing the feature complexity with a train and test recall value of 0.95 and 0.91 respectively. </a:t>
            </a:r>
            <a:endParaRPr sz="1600">
              <a:solidFill>
                <a:schemeClr val="dk1"/>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lang="en" sz="1600">
                <a:solidFill>
                  <a:schemeClr val="dk1"/>
                </a:solidFill>
                <a:latin typeface="Nunito"/>
                <a:ea typeface="Nunito"/>
                <a:cs typeface="Nunito"/>
                <a:sym typeface="Nunito"/>
              </a:rPr>
              <a:t>However post pruning the tree significantly improved the performance </a:t>
            </a:r>
            <a:r>
              <a:rPr lang="en" sz="1600">
                <a:solidFill>
                  <a:schemeClr val="dk1"/>
                </a:solidFill>
                <a:latin typeface="Nunito"/>
                <a:ea typeface="Nunito"/>
                <a:cs typeface="Nunito"/>
                <a:sym typeface="Nunito"/>
              </a:rPr>
              <a:t>with</a:t>
            </a:r>
            <a:r>
              <a:rPr lang="en" sz="1600">
                <a:solidFill>
                  <a:schemeClr val="dk1"/>
                </a:solidFill>
                <a:latin typeface="Nunito"/>
                <a:ea typeface="Nunito"/>
                <a:cs typeface="Nunito"/>
                <a:sym typeface="Nunito"/>
              </a:rPr>
              <a:t> a train and test recall value of 0.99 and 0.98 respectively.</a:t>
            </a:r>
            <a:endParaRPr sz="1600">
              <a:solidFill>
                <a:schemeClr val="dk1"/>
              </a:solidFill>
              <a:latin typeface="Nunito"/>
              <a:ea typeface="Nunito"/>
              <a:cs typeface="Nunito"/>
              <a:sym typeface="Nunito"/>
            </a:endParaRPr>
          </a:p>
          <a:p>
            <a:pPr indent="-330200" lvl="0" marL="457200" marR="0" rtl="0" algn="l">
              <a:lnSpc>
                <a:spcPct val="115000"/>
              </a:lnSpc>
              <a:spcBef>
                <a:spcPts val="1000"/>
              </a:spcBef>
              <a:spcAft>
                <a:spcPts val="0"/>
              </a:spcAft>
              <a:buClr>
                <a:schemeClr val="dk1"/>
              </a:buClr>
              <a:buSzPts val="1600"/>
              <a:buFont typeface="Nunito"/>
              <a:buChar char="●"/>
            </a:pPr>
            <a:r>
              <a:rPr lang="en" sz="1600">
                <a:solidFill>
                  <a:schemeClr val="dk1"/>
                </a:solidFill>
                <a:latin typeface="Nunito"/>
                <a:ea typeface="Nunito"/>
                <a:cs typeface="Nunito"/>
                <a:sym typeface="Nunito"/>
              </a:rPr>
              <a:t>Income has a significant impact on the results, followed by Education, Family and Credit Card usage.</a:t>
            </a:r>
            <a:endParaRPr sz="1600">
              <a:solidFill>
                <a:schemeClr val="dk1"/>
              </a:solidFill>
              <a:latin typeface="Nunito"/>
              <a:ea typeface="Nunito"/>
              <a:cs typeface="Nunito"/>
              <a:sym typeface="Nunito"/>
            </a:endParaRPr>
          </a:p>
        </p:txBody>
      </p:sp>
      <p:graphicFrame>
        <p:nvGraphicFramePr>
          <p:cNvPr id="417" name="Google Shape;417;p9"/>
          <p:cNvGraphicFramePr/>
          <p:nvPr/>
        </p:nvGraphicFramePr>
        <p:xfrm>
          <a:off x="845938" y="3010975"/>
          <a:ext cx="3000000" cy="3000000"/>
        </p:xfrm>
        <a:graphic>
          <a:graphicData uri="http://schemas.openxmlformats.org/drawingml/2006/table">
            <a:tbl>
              <a:tblPr>
                <a:noFill/>
                <a:tableStyleId>{F8C0DDD7-219C-40B8-9E4E-FD4CF13916F9}</a:tableStyleId>
              </a:tblPr>
              <a:tblGrid>
                <a:gridCol w="1182725"/>
                <a:gridCol w="3058425"/>
                <a:gridCol w="1673625"/>
                <a:gridCol w="1647600"/>
              </a:tblGrid>
              <a:tr h="381000">
                <a:tc>
                  <a:txBody>
                    <a:bodyPr/>
                    <a:lstStyle/>
                    <a:p>
                      <a:pPr indent="0" lvl="0" marL="0" rtl="0" algn="ctr">
                        <a:lnSpc>
                          <a:spcPct val="115000"/>
                        </a:lnSpc>
                        <a:spcBef>
                          <a:spcPts val="0"/>
                        </a:spcBef>
                        <a:spcAft>
                          <a:spcPts val="0"/>
                        </a:spcAft>
                        <a:buNone/>
                      </a:pPr>
                      <a:r>
                        <a:rPr b="1" lang="en" sz="1600">
                          <a:solidFill>
                            <a:schemeClr val="dk1"/>
                          </a:solidFill>
                          <a:latin typeface="Nunito"/>
                          <a:ea typeface="Nunito"/>
                          <a:cs typeface="Nunito"/>
                          <a:sym typeface="Nunito"/>
                        </a:rPr>
                        <a:t>Model</a:t>
                      </a:r>
                      <a:endParaRPr b="1" sz="1600">
                        <a:solidFill>
                          <a:schemeClr val="dk1"/>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b="1" lang="en" sz="1600">
                          <a:solidFill>
                            <a:schemeClr val="dk1"/>
                          </a:solidFill>
                          <a:latin typeface="Nunito"/>
                          <a:ea typeface="Nunito"/>
                          <a:cs typeface="Nunito"/>
                          <a:sym typeface="Nunito"/>
                        </a:rPr>
                        <a:t>Description</a:t>
                      </a:r>
                      <a:endParaRPr b="1" sz="1600">
                        <a:solidFill>
                          <a:schemeClr val="dk1"/>
                        </a:solidFill>
                        <a:latin typeface="Nunito"/>
                        <a:ea typeface="Nunito"/>
                        <a:cs typeface="Nunito"/>
                        <a:sym typeface="Nunito"/>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b="1" lang="en" sz="1600">
                          <a:solidFill>
                            <a:schemeClr val="dk1"/>
                          </a:solidFill>
                          <a:latin typeface="Nunito"/>
                          <a:ea typeface="Nunito"/>
                          <a:cs typeface="Nunito"/>
                          <a:sym typeface="Nunito"/>
                        </a:rPr>
                        <a:t>Train_Recall</a:t>
                      </a:r>
                      <a:endParaRPr b="1" sz="1600">
                        <a:solidFill>
                          <a:schemeClr val="dk1"/>
                        </a:solidFill>
                        <a:latin typeface="Nunito"/>
                        <a:ea typeface="Nunito"/>
                        <a:cs typeface="Nunito"/>
                        <a:sym typeface="Nuni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600">
                          <a:solidFill>
                            <a:schemeClr val="dk1"/>
                          </a:solidFill>
                          <a:latin typeface="Nunito"/>
                          <a:ea typeface="Nunito"/>
                          <a:cs typeface="Nunito"/>
                          <a:sym typeface="Nunito"/>
                        </a:rPr>
                        <a:t>Test_Recall</a:t>
                      </a:r>
                      <a:endParaRPr b="1" sz="1600">
                        <a:solidFill>
                          <a:schemeClr val="dk1"/>
                        </a:solidFill>
                        <a:latin typeface="Nunito"/>
                        <a:ea typeface="Nunito"/>
                        <a:cs typeface="Nunito"/>
                        <a:sym typeface="Nuni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en" sz="1600">
                          <a:solidFill>
                            <a:schemeClr val="dk1"/>
                          </a:solidFill>
                          <a:latin typeface="Nunito"/>
                          <a:ea typeface="Nunito"/>
                          <a:cs typeface="Nunito"/>
                          <a:sym typeface="Nunito"/>
                        </a:rPr>
                        <a:t>0</a:t>
                      </a:r>
                      <a:endParaRPr sz="1600">
                        <a:solidFill>
                          <a:schemeClr val="dk1"/>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sz="1600">
                          <a:solidFill>
                            <a:schemeClr val="dk1"/>
                          </a:solidFill>
                          <a:latin typeface="Nunito"/>
                          <a:ea typeface="Nunito"/>
                          <a:cs typeface="Nunito"/>
                          <a:sym typeface="Nunito"/>
                        </a:rPr>
                        <a:t>Initial decision tree model</a:t>
                      </a:r>
                      <a:endParaRPr sz="1600">
                        <a:solidFill>
                          <a:schemeClr val="dk1"/>
                        </a:solidFill>
                        <a:latin typeface="Nunito"/>
                        <a:ea typeface="Nunito"/>
                        <a:cs typeface="Nunito"/>
                        <a:sym typeface="Nunito"/>
                      </a:endParaRPr>
                    </a:p>
                  </a:txBody>
                  <a:tcPr marT="91425" marB="91425" marR="91425" marL="91425"/>
                </a:tc>
                <a:tc>
                  <a:txBody>
                    <a:bodyPr/>
                    <a:lstStyle/>
                    <a:p>
                      <a:pPr indent="0" lvl="0" marL="0" rtl="0" algn="ctr">
                        <a:spcBef>
                          <a:spcPts val="0"/>
                        </a:spcBef>
                        <a:spcAft>
                          <a:spcPts val="0"/>
                        </a:spcAft>
                        <a:buNone/>
                      </a:pPr>
                      <a:r>
                        <a:rPr lang="en" sz="1600">
                          <a:solidFill>
                            <a:schemeClr val="dk1"/>
                          </a:solidFill>
                          <a:latin typeface="Nunito"/>
                          <a:ea typeface="Nunito"/>
                          <a:cs typeface="Nunito"/>
                          <a:sym typeface="Nunito"/>
                        </a:rPr>
                        <a:t>1.00</a:t>
                      </a:r>
                      <a:endParaRPr sz="1600">
                        <a:solidFill>
                          <a:schemeClr val="dk1"/>
                        </a:solidFill>
                        <a:latin typeface="Nunito"/>
                        <a:ea typeface="Nunito"/>
                        <a:cs typeface="Nunito"/>
                        <a:sym typeface="Nunito"/>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sz="1600">
                          <a:solidFill>
                            <a:schemeClr val="dk1"/>
                          </a:solidFill>
                          <a:latin typeface="Nunito"/>
                          <a:ea typeface="Nunito"/>
                          <a:cs typeface="Nunito"/>
                          <a:sym typeface="Nunito"/>
                        </a:rPr>
                        <a:t>0.91</a:t>
                      </a:r>
                      <a:endParaRPr sz="1600">
                        <a:solidFill>
                          <a:schemeClr val="dk1"/>
                        </a:solidFill>
                        <a:latin typeface="Nunito"/>
                        <a:ea typeface="Nunito"/>
                        <a:cs typeface="Nunito"/>
                        <a:sym typeface="Nunito"/>
                      </a:endParaRPr>
                    </a:p>
                  </a:txBody>
                  <a:tcPr marT="91425" marB="91425" marR="91425" marL="91425">
                    <a:lnT cap="flat" cmpd="sng" w="9525">
                      <a:solidFill>
                        <a:srgbClr val="9E9E9E"/>
                      </a:solidFill>
                      <a:prstDash val="solid"/>
                      <a:round/>
                      <a:headEnd len="sm" w="sm" type="none"/>
                      <a:tailEnd len="sm" w="sm" type="none"/>
                    </a:lnT>
                  </a:tcPr>
                </a:tc>
              </a:tr>
              <a:tr h="381000">
                <a:tc>
                  <a:txBody>
                    <a:bodyPr/>
                    <a:lstStyle/>
                    <a:p>
                      <a:pPr indent="0" lvl="0" marL="0" rtl="0" algn="ctr">
                        <a:lnSpc>
                          <a:spcPct val="115000"/>
                        </a:lnSpc>
                        <a:spcBef>
                          <a:spcPts val="0"/>
                        </a:spcBef>
                        <a:spcAft>
                          <a:spcPts val="0"/>
                        </a:spcAft>
                        <a:buNone/>
                      </a:pPr>
                      <a:r>
                        <a:rPr lang="en" sz="1600">
                          <a:solidFill>
                            <a:schemeClr val="dk1"/>
                          </a:solidFill>
                          <a:latin typeface="Nunito"/>
                          <a:ea typeface="Nunito"/>
                          <a:cs typeface="Nunito"/>
                          <a:sym typeface="Nunito"/>
                        </a:rPr>
                        <a:t>1</a:t>
                      </a:r>
                      <a:endParaRPr sz="1600">
                        <a:solidFill>
                          <a:schemeClr val="dk1"/>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sz="1600">
                          <a:solidFill>
                            <a:schemeClr val="dk1"/>
                          </a:solidFill>
                          <a:latin typeface="Nunito"/>
                          <a:ea typeface="Nunito"/>
                          <a:cs typeface="Nunito"/>
                          <a:sym typeface="Nunito"/>
                        </a:rPr>
                        <a:t>Pre-Pruned Decision tree</a:t>
                      </a:r>
                      <a:endParaRPr sz="1600">
                        <a:solidFill>
                          <a:schemeClr val="dk1"/>
                        </a:solidFill>
                        <a:latin typeface="Nunito"/>
                        <a:ea typeface="Nunito"/>
                        <a:cs typeface="Nunito"/>
                        <a:sym typeface="Nunito"/>
                      </a:endParaRPr>
                    </a:p>
                  </a:txBody>
                  <a:tcPr marT="91425" marB="91425" marR="91425" marL="91425"/>
                </a:tc>
                <a:tc>
                  <a:txBody>
                    <a:bodyPr/>
                    <a:lstStyle/>
                    <a:p>
                      <a:pPr indent="0" lvl="0" marL="0" rtl="0" algn="ctr">
                        <a:spcBef>
                          <a:spcPts val="0"/>
                        </a:spcBef>
                        <a:spcAft>
                          <a:spcPts val="0"/>
                        </a:spcAft>
                        <a:buNone/>
                      </a:pPr>
                      <a:r>
                        <a:rPr lang="en" sz="1600">
                          <a:solidFill>
                            <a:schemeClr val="dk1"/>
                          </a:solidFill>
                          <a:latin typeface="Nunito"/>
                          <a:ea typeface="Nunito"/>
                          <a:cs typeface="Nunito"/>
                          <a:sym typeface="Nunito"/>
                        </a:rPr>
                        <a:t>0.95</a:t>
                      </a:r>
                      <a:endParaRPr sz="1600">
                        <a:solidFill>
                          <a:schemeClr val="dk1"/>
                        </a:solidFill>
                        <a:latin typeface="Nunito"/>
                        <a:ea typeface="Nunito"/>
                        <a:cs typeface="Nunito"/>
                        <a:sym typeface="Nunito"/>
                      </a:endParaRPr>
                    </a:p>
                  </a:txBody>
                  <a:tcPr marT="91425" marB="91425" marR="91425" marL="91425"/>
                </a:tc>
                <a:tc>
                  <a:txBody>
                    <a:bodyPr/>
                    <a:lstStyle/>
                    <a:p>
                      <a:pPr indent="0" lvl="0" marL="0" rtl="0" algn="ctr">
                        <a:spcBef>
                          <a:spcPts val="0"/>
                        </a:spcBef>
                        <a:spcAft>
                          <a:spcPts val="0"/>
                        </a:spcAft>
                        <a:buNone/>
                      </a:pPr>
                      <a:r>
                        <a:rPr lang="en" sz="1600">
                          <a:solidFill>
                            <a:schemeClr val="dk1"/>
                          </a:solidFill>
                          <a:latin typeface="Nunito"/>
                          <a:ea typeface="Nunito"/>
                          <a:cs typeface="Nunito"/>
                          <a:sym typeface="Nunito"/>
                        </a:rPr>
                        <a:t>0.91</a:t>
                      </a:r>
                      <a:endParaRPr sz="1600">
                        <a:solidFill>
                          <a:schemeClr val="dk1"/>
                        </a:solidFill>
                        <a:latin typeface="Nunito"/>
                        <a:ea typeface="Nunito"/>
                        <a:cs typeface="Nunito"/>
                        <a:sym typeface="Nunito"/>
                      </a:endParaRPr>
                    </a:p>
                  </a:txBody>
                  <a:tcPr marT="91425" marB="91425" marR="91425" marL="91425"/>
                </a:tc>
              </a:tr>
              <a:tr h="381000">
                <a:tc>
                  <a:txBody>
                    <a:bodyPr/>
                    <a:lstStyle/>
                    <a:p>
                      <a:pPr indent="0" lvl="0" marL="0" rtl="0" algn="ctr">
                        <a:lnSpc>
                          <a:spcPct val="115000"/>
                        </a:lnSpc>
                        <a:spcBef>
                          <a:spcPts val="0"/>
                        </a:spcBef>
                        <a:spcAft>
                          <a:spcPts val="0"/>
                        </a:spcAft>
                        <a:buNone/>
                      </a:pPr>
                      <a:r>
                        <a:rPr lang="en" sz="1600">
                          <a:solidFill>
                            <a:schemeClr val="dk1"/>
                          </a:solidFill>
                          <a:latin typeface="Nunito"/>
                          <a:ea typeface="Nunito"/>
                          <a:cs typeface="Nunito"/>
                          <a:sym typeface="Nunito"/>
                        </a:rPr>
                        <a:t>2</a:t>
                      </a:r>
                      <a:endParaRPr sz="1600">
                        <a:solidFill>
                          <a:schemeClr val="dk1"/>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sz="1600">
                          <a:solidFill>
                            <a:schemeClr val="dk1"/>
                          </a:solidFill>
                          <a:latin typeface="Nunito"/>
                          <a:ea typeface="Nunito"/>
                          <a:cs typeface="Nunito"/>
                          <a:sym typeface="Nunito"/>
                        </a:rPr>
                        <a:t>Post-Pruned Decision tree </a:t>
                      </a:r>
                      <a:endParaRPr sz="1600">
                        <a:solidFill>
                          <a:schemeClr val="dk1"/>
                        </a:solidFill>
                        <a:latin typeface="Nunito"/>
                        <a:ea typeface="Nunito"/>
                        <a:cs typeface="Nunito"/>
                        <a:sym typeface="Nunito"/>
                      </a:endParaRPr>
                    </a:p>
                  </a:txBody>
                  <a:tcPr marT="91425" marB="91425" marR="91425" marL="91425"/>
                </a:tc>
                <a:tc>
                  <a:txBody>
                    <a:bodyPr/>
                    <a:lstStyle/>
                    <a:p>
                      <a:pPr indent="0" lvl="0" marL="0" rtl="0" algn="ctr">
                        <a:spcBef>
                          <a:spcPts val="0"/>
                        </a:spcBef>
                        <a:spcAft>
                          <a:spcPts val="0"/>
                        </a:spcAft>
                        <a:buNone/>
                      </a:pPr>
                      <a:r>
                        <a:rPr lang="en" sz="1600">
                          <a:solidFill>
                            <a:schemeClr val="dk1"/>
                          </a:solidFill>
                          <a:latin typeface="Nunito"/>
                          <a:ea typeface="Nunito"/>
                          <a:cs typeface="Nunito"/>
                          <a:sym typeface="Nunito"/>
                        </a:rPr>
                        <a:t>0.99</a:t>
                      </a:r>
                      <a:endParaRPr sz="1600">
                        <a:solidFill>
                          <a:schemeClr val="dk1"/>
                        </a:solidFill>
                        <a:latin typeface="Nunito"/>
                        <a:ea typeface="Nunito"/>
                        <a:cs typeface="Nunito"/>
                        <a:sym typeface="Nunito"/>
                      </a:endParaRPr>
                    </a:p>
                  </a:txBody>
                  <a:tcPr marT="91425" marB="91425" marR="91425" marL="91425"/>
                </a:tc>
                <a:tc>
                  <a:txBody>
                    <a:bodyPr/>
                    <a:lstStyle/>
                    <a:p>
                      <a:pPr indent="0" lvl="0" marL="0" rtl="0" algn="ctr">
                        <a:spcBef>
                          <a:spcPts val="0"/>
                        </a:spcBef>
                        <a:spcAft>
                          <a:spcPts val="0"/>
                        </a:spcAft>
                        <a:buNone/>
                      </a:pPr>
                      <a:r>
                        <a:rPr lang="en" sz="1600">
                          <a:solidFill>
                            <a:schemeClr val="dk1"/>
                          </a:solidFill>
                          <a:latin typeface="Nunito"/>
                          <a:ea typeface="Nunito"/>
                          <a:cs typeface="Nunito"/>
                          <a:sym typeface="Nunito"/>
                        </a:rPr>
                        <a:t>0.98</a:t>
                      </a:r>
                      <a:endParaRPr sz="1600">
                        <a:solidFill>
                          <a:schemeClr val="dk1"/>
                        </a:solidFill>
                        <a:latin typeface="Nunito"/>
                        <a:ea typeface="Nunito"/>
                        <a:cs typeface="Nunito"/>
                        <a:sym typeface="Nunito"/>
                      </a:endParaRPr>
                    </a:p>
                  </a:txBody>
                  <a:tcPr marT="91425" marB="91425" marR="91425" marL="91425"/>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10"/>
          <p:cNvSpPr/>
          <p:nvPr/>
        </p:nvSpPr>
        <p:spPr>
          <a:xfrm>
            <a:off x="0" y="3442950"/>
            <a:ext cx="9162600" cy="78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10"/>
          <p:cNvSpPr txBox="1"/>
          <p:nvPr/>
        </p:nvSpPr>
        <p:spPr>
          <a:xfrm>
            <a:off x="32525" y="3526575"/>
            <a:ext cx="4418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Nunito"/>
                <a:ea typeface="Nunito"/>
                <a:cs typeface="Nunito"/>
                <a:sym typeface="Nunito"/>
              </a:rPr>
              <a:t>APPENDIX</a:t>
            </a:r>
            <a:endParaRPr b="1" i="0" sz="2800" u="none" cap="none" strike="noStrike">
              <a:solidFill>
                <a:schemeClr val="lt1"/>
              </a:solidFill>
              <a:latin typeface="Nunito"/>
              <a:ea typeface="Nunito"/>
              <a:cs typeface="Nunito"/>
              <a:sym typeface="Nuni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11"/>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Data Background and Contents</a:t>
            </a:r>
            <a:endParaRPr sz="2400">
              <a:solidFill>
                <a:srgbClr val="0E39A9"/>
              </a:solidFill>
            </a:endParaRPr>
          </a:p>
        </p:txBody>
      </p:sp>
      <p:sp>
        <p:nvSpPr>
          <p:cNvPr id="429" name="Google Shape;429;p11"/>
          <p:cNvSpPr txBox="1"/>
          <p:nvPr/>
        </p:nvSpPr>
        <p:spPr>
          <a:xfrm>
            <a:off x="325250" y="808475"/>
            <a:ext cx="8397900" cy="431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https://olympus.mygreatlearning.com</a:t>
            </a:r>
            <a:endParaRPr b="0" i="0" sz="1600" u="none" cap="none" strike="noStrike">
              <a:solidFill>
                <a:srgbClr val="000000"/>
              </a:solidFill>
              <a:latin typeface="Nunito"/>
              <a:ea typeface="Nunito"/>
              <a:cs typeface="Nunito"/>
              <a:sym typeface="Nuni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13"/>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p>
            <a:pPr indent="0" lvl="0" marL="0" rtl="0" algn="l">
              <a:lnSpc>
                <a:spcPct val="100000"/>
              </a:lnSpc>
              <a:spcBef>
                <a:spcPts val="0"/>
              </a:spcBef>
              <a:spcAft>
                <a:spcPts val="0"/>
              </a:spcAft>
              <a:buSzPts val="2200"/>
              <a:buNone/>
            </a:pPr>
            <a:r>
              <a:t/>
            </a:r>
            <a:endParaRPr/>
          </a:p>
        </p:txBody>
      </p:sp>
      <p:sp>
        <p:nvSpPr>
          <p:cNvPr id="437" name="Google Shape;437;p13"/>
          <p:cNvSpPr txBox="1"/>
          <p:nvPr>
            <p:ph idx="4294967295"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